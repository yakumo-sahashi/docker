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89" r:id="rId2"/>
    <p:sldId id="259" r:id="rId3"/>
    <p:sldId id="261" r:id="rId4"/>
    <p:sldId id="299" r:id="rId5"/>
    <p:sldId id="263" r:id="rId6"/>
    <p:sldId id="290" r:id="rId7"/>
    <p:sldId id="291" r:id="rId8"/>
    <p:sldId id="292" r:id="rId9"/>
    <p:sldId id="295" r:id="rId10"/>
    <p:sldId id="294" r:id="rId11"/>
    <p:sldId id="296" r:id="rId12"/>
    <p:sldId id="297" r:id="rId13"/>
    <p:sldId id="29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5" autoAdjust="0"/>
    <p:restoredTop sz="94660"/>
  </p:normalViewPr>
  <p:slideViewPr>
    <p:cSldViewPr snapToGrid="0">
      <p:cViewPr varScale="1">
        <p:scale>
          <a:sx n="71" d="100"/>
          <a:sy n="71" d="100"/>
        </p:scale>
        <p:origin x="65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8/19/2026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8D60EF-0DBA-49EB-92F6-455C4FEA4CA1}"/>
              </a:ext>
            </a:extLst>
          </p:cNvPr>
          <p:cNvSpPr>
            <a:spLocks noGrp="1"/>
          </p:cNvSpPr>
          <p:nvPr>
            <p:ph type="ctrTitle"/>
          </p:nvPr>
        </p:nvSpPr>
        <p:spPr>
          <a:xfrm>
            <a:off x="1411940" y="1686593"/>
            <a:ext cx="7260745" cy="1083502"/>
          </a:xfrm>
        </p:spPr>
        <p:txBody>
          <a:bodyPr>
            <a:normAutofit/>
          </a:bodyPr>
          <a:lstStyle/>
          <a:p>
            <a:r>
              <a:rPr lang="es-ES" sz="5400" b="1" dirty="0">
                <a:solidFill>
                  <a:schemeClr val="tx2">
                    <a:lumMod val="50000"/>
                  </a:schemeClr>
                </a:solidFill>
                <a:latin typeface="Agency FB" panose="020B0503020202020204" pitchFamily="34" charset="0"/>
              </a:rPr>
              <a:t>Docker </a:t>
            </a:r>
            <a:r>
              <a:rPr lang="es-ES" sz="5400" b="1" dirty="0" err="1">
                <a:solidFill>
                  <a:schemeClr val="tx2">
                    <a:lumMod val="50000"/>
                  </a:schemeClr>
                </a:solidFill>
                <a:latin typeface="Agency FB" panose="020B0503020202020204" pitchFamily="34" charset="0"/>
              </a:rPr>
              <a:t>Compose</a:t>
            </a:r>
            <a:endParaRPr lang="es-MX" sz="5400" dirty="0">
              <a:solidFill>
                <a:schemeClr val="tx2">
                  <a:lumMod val="50000"/>
                </a:schemeClr>
              </a:solidFill>
            </a:endParaRPr>
          </a:p>
        </p:txBody>
      </p:sp>
      <p:pic>
        <p:nvPicPr>
          <p:cNvPr id="4" name="Picture 4" descr="TecNM | Campus Milpa Alta II">
            <a:extLst>
              <a:ext uri="{FF2B5EF4-FFF2-40B4-BE49-F238E27FC236}">
                <a16:creationId xmlns:a16="http://schemas.microsoft.com/office/drawing/2014/main" id="{90C03921-FD41-47D7-9FA7-5B7E28C070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Despliegue de aplicaciones con Docker Compose">
            <a:extLst>
              <a:ext uri="{FF2B5EF4-FFF2-40B4-BE49-F238E27FC236}">
                <a16:creationId xmlns:a16="http://schemas.microsoft.com/office/drawing/2014/main" id="{D7E0ED51-CD91-403A-8648-A6440EC74E5D}"/>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584" b="96616" l="10000" r="90000">
                        <a14:foregroundMark x1="65000" y1="14890" x2="73667" y2="6261"/>
                        <a14:foregroundMark x1="73667" y1="6261" x2="76333" y2="5584"/>
                        <a14:foregroundMark x1="61000" y1="91032" x2="53667" y2="86802"/>
                        <a14:foregroundMark x1="56333" y1="93232" x2="65500" y2="92893"/>
                        <a14:foregroundMark x1="65500" y1="92893" x2="65667" y2="92724"/>
                        <a14:foregroundMark x1="44500" y1="54992" x2="55167" y2="55330"/>
                        <a14:foregroundMark x1="47500" y1="56007" x2="43500" y2="50931"/>
                        <a14:foregroundMark x1="58667" y1="95093" x2="63333" y2="96616"/>
                      </a14:backgroundRemoval>
                    </a14:imgEffect>
                  </a14:imgLayer>
                </a14:imgProps>
              </a:ext>
              <a:ext uri="{28A0092B-C50C-407E-A947-70E740481C1C}">
                <a14:useLocalDpi xmlns:a14="http://schemas.microsoft.com/office/drawing/2010/main" val="0"/>
              </a:ext>
            </a:extLst>
          </a:blip>
          <a:srcRect/>
          <a:stretch>
            <a:fillRect/>
          </a:stretch>
        </p:blipFill>
        <p:spPr bwMode="auto">
          <a:xfrm>
            <a:off x="1831187" y="2877670"/>
            <a:ext cx="3232325" cy="31838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066972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¿Qué es Docker </a:t>
            </a:r>
            <a:r>
              <a:rPr lang="es-MX" sz="4000" b="1" dirty="0" err="1">
                <a:solidFill>
                  <a:schemeClr val="bg2">
                    <a:lumMod val="60000"/>
                    <a:lumOff val="40000"/>
                  </a:schemeClr>
                </a:solidFill>
                <a:latin typeface="Google Sans"/>
              </a:rPr>
              <a:t>Compose</a:t>
            </a:r>
            <a:r>
              <a:rPr lang="es-MX" sz="4000" b="1" dirty="0">
                <a:solidFill>
                  <a:schemeClr val="bg2">
                    <a:lumMod val="60000"/>
                    <a:lumOff val="40000"/>
                  </a:schemeClr>
                </a:solidFill>
                <a:latin typeface="Google Sans"/>
              </a:rPr>
              <a:t>?</a:t>
            </a: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0" y="977030"/>
            <a:ext cx="10490295" cy="3191558"/>
          </a:xfrm>
        </p:spPr>
        <p:txBody>
          <a:bodyPr>
            <a:normAutofit lnSpcReduction="10000"/>
          </a:bodyPr>
          <a:lstStyle/>
          <a:p>
            <a:pPr marL="0" indent="0" algn="just">
              <a:buNone/>
            </a:pPr>
            <a:r>
              <a:rPr lang="es-ES" sz="3200" dirty="0">
                <a:solidFill>
                  <a:schemeClr val="tx1"/>
                </a:solidFill>
                <a:latin typeface="Google Sans"/>
              </a:rPr>
              <a:t>Docker </a:t>
            </a:r>
            <a:r>
              <a:rPr lang="es-ES" sz="3200" dirty="0" err="1">
                <a:solidFill>
                  <a:schemeClr val="tx1"/>
                </a:solidFill>
                <a:latin typeface="Google Sans"/>
              </a:rPr>
              <a:t>Compose</a:t>
            </a:r>
            <a:r>
              <a:rPr lang="es-ES" sz="3200" dirty="0">
                <a:solidFill>
                  <a:schemeClr val="tx1"/>
                </a:solidFill>
                <a:latin typeface="Google Sans"/>
              </a:rPr>
              <a:t> es una herramienta que permite definir y ejecutar aplicaciones formadas por múltiples contenedores mediante un único archivo de configuración declarativo (</a:t>
            </a:r>
            <a:r>
              <a:rPr lang="es-ES" sz="3200" dirty="0" err="1">
                <a:solidFill>
                  <a:schemeClr val="tx1"/>
                </a:solidFill>
                <a:latin typeface="Google Sans"/>
              </a:rPr>
              <a:t>compose.yml</a:t>
            </a:r>
            <a:r>
              <a:rPr lang="es-ES" sz="3200" dirty="0">
                <a:solidFill>
                  <a:schemeClr val="tx1"/>
                </a:solidFill>
                <a:latin typeface="Google Sans"/>
              </a:rPr>
              <a:t>). En lugar de escribir varios comandos </a:t>
            </a:r>
            <a:r>
              <a:rPr lang="es-ES" sz="3200" dirty="0" err="1">
                <a:solidFill>
                  <a:schemeClr val="tx1"/>
                </a:solidFill>
                <a:latin typeface="Google Sans"/>
              </a:rPr>
              <a:t>docker</a:t>
            </a:r>
            <a:r>
              <a:rPr lang="es-ES" sz="3200" dirty="0">
                <a:solidFill>
                  <a:schemeClr val="tx1"/>
                </a:solidFill>
                <a:latin typeface="Google Sans"/>
              </a:rPr>
              <a:t> run con sus redes y volúmenes de forma manual, se describe el estado deseado de toda la aplicación y </a:t>
            </a:r>
            <a:r>
              <a:rPr lang="es-ES" sz="3200" dirty="0" err="1">
                <a:solidFill>
                  <a:schemeClr val="tx1"/>
                </a:solidFill>
                <a:latin typeface="Google Sans"/>
              </a:rPr>
              <a:t>Compose</a:t>
            </a:r>
            <a:r>
              <a:rPr lang="es-ES" sz="3200" dirty="0">
                <a:solidFill>
                  <a:schemeClr val="tx1"/>
                </a:solidFill>
                <a:latin typeface="Google Sans"/>
              </a:rPr>
              <a:t> se encarga de crear, conectar y levantar todos los servicios.</a:t>
            </a:r>
          </a:p>
        </p:txBody>
      </p:sp>
      <p:pic>
        <p:nvPicPr>
          <p:cNvPr id="5" name="Picture 4" descr="TecNM | Campus Milpa Alta II">
            <a:extLst>
              <a:ext uri="{FF2B5EF4-FFF2-40B4-BE49-F238E27FC236}">
                <a16:creationId xmlns:a16="http://schemas.microsoft.com/office/drawing/2014/main" id="{9FD0A4B0-4DCD-4EA1-BE98-726103FE05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6083064"/>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normAutofit/>
          </a:bodyPr>
          <a:lstStyle/>
          <a:p>
            <a:r>
              <a:rPr lang="es-MX" b="1" dirty="0">
                <a:solidFill>
                  <a:schemeClr val="bg2">
                    <a:lumMod val="60000"/>
                    <a:lumOff val="40000"/>
                  </a:schemeClr>
                </a:solidFill>
                <a:latin typeface="Google Sans"/>
              </a:rPr>
              <a:t>Aplicaciones </a:t>
            </a:r>
            <a:r>
              <a:rPr lang="es-MX" b="1" dirty="0" err="1">
                <a:solidFill>
                  <a:schemeClr val="bg2">
                    <a:lumMod val="60000"/>
                    <a:lumOff val="40000"/>
                  </a:schemeClr>
                </a:solidFill>
                <a:latin typeface="Google Sans"/>
              </a:rPr>
              <a:t>multicontenedor</a:t>
            </a:r>
            <a:r>
              <a:rPr lang="es-MX" b="1" dirty="0">
                <a:solidFill>
                  <a:schemeClr val="bg2">
                    <a:lumMod val="60000"/>
                    <a:lumOff val="40000"/>
                  </a:schemeClr>
                </a:solidFill>
                <a:latin typeface="Google Sans"/>
              </a:rPr>
              <a:t> y servicios</a:t>
            </a: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2" y="1027134"/>
            <a:ext cx="10315482" cy="3273934"/>
          </a:xfrm>
        </p:spPr>
        <p:txBody>
          <a:bodyPr>
            <a:normAutofit lnSpcReduction="10000"/>
          </a:bodyPr>
          <a:lstStyle/>
          <a:p>
            <a:pPr marL="0" indent="0" algn="just">
              <a:buNone/>
            </a:pPr>
            <a:r>
              <a:rPr lang="es-ES" sz="3200" dirty="0">
                <a:solidFill>
                  <a:schemeClr val="tx1"/>
                </a:solidFill>
                <a:latin typeface="Google Sans"/>
              </a:rPr>
              <a:t>En </a:t>
            </a:r>
            <a:r>
              <a:rPr lang="es-ES" sz="3200" dirty="0" err="1">
                <a:solidFill>
                  <a:schemeClr val="tx1"/>
                </a:solidFill>
                <a:latin typeface="Google Sans"/>
              </a:rPr>
              <a:t>Compose</a:t>
            </a:r>
            <a:r>
              <a:rPr lang="es-ES" sz="3200" dirty="0">
                <a:solidFill>
                  <a:schemeClr val="tx1"/>
                </a:solidFill>
                <a:latin typeface="Google Sans"/>
              </a:rPr>
              <a:t>, cada 'servicio' representa un contenedor (o un conjunto de réplicas de un mismo contenedor) que cumple un rol específico dentro de la aplicación: por ejemplo, un servicio 'web' (</a:t>
            </a:r>
            <a:r>
              <a:rPr lang="es-ES" sz="3200" dirty="0" err="1">
                <a:solidFill>
                  <a:schemeClr val="tx1"/>
                </a:solidFill>
                <a:latin typeface="Google Sans"/>
              </a:rPr>
              <a:t>Nginx</a:t>
            </a:r>
            <a:r>
              <a:rPr lang="es-ES" sz="3200" dirty="0">
                <a:solidFill>
                  <a:schemeClr val="tx1"/>
                </a:solidFill>
                <a:latin typeface="Google Sans"/>
              </a:rPr>
              <a:t>), un servicio 'app' (PHP) y un servicio '</a:t>
            </a:r>
            <a:r>
              <a:rPr lang="es-ES" sz="3200" dirty="0" err="1">
                <a:solidFill>
                  <a:schemeClr val="tx1"/>
                </a:solidFill>
                <a:latin typeface="Google Sans"/>
              </a:rPr>
              <a:t>db</a:t>
            </a:r>
            <a:r>
              <a:rPr lang="es-ES" sz="3200" dirty="0">
                <a:solidFill>
                  <a:schemeClr val="tx1"/>
                </a:solidFill>
                <a:latin typeface="Google Sans"/>
              </a:rPr>
              <a:t>' (MySQL). Todos los servicios definidos en el mismo archivo comparten, por defecto, una red interna que permite que se comuniquen entre sí por su nombre de servicio.</a:t>
            </a:r>
            <a:endParaRPr lang="es-ES" sz="3200" b="1" dirty="0">
              <a:solidFill>
                <a:schemeClr val="tx2">
                  <a:lumMod val="75000"/>
                </a:schemeClr>
              </a:solidFill>
              <a:latin typeface="Google Sans"/>
            </a:endParaRPr>
          </a:p>
        </p:txBody>
      </p:sp>
      <p:pic>
        <p:nvPicPr>
          <p:cNvPr id="4" name="Picture 4" descr="TecNM | Campus Milpa Alta II">
            <a:extLst>
              <a:ext uri="{FF2B5EF4-FFF2-40B4-BE49-F238E27FC236}">
                <a16:creationId xmlns:a16="http://schemas.microsoft.com/office/drawing/2014/main" id="{B34B1328-76BB-4C73-ACFC-EB524D638F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410463"/>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archivo </a:t>
            </a:r>
            <a:r>
              <a:rPr lang="es-MX" sz="4000" b="1" dirty="0" err="1">
                <a:solidFill>
                  <a:schemeClr val="bg2">
                    <a:lumMod val="60000"/>
                    <a:lumOff val="40000"/>
                  </a:schemeClr>
                </a:solidFill>
                <a:latin typeface="Google Sans"/>
              </a:rPr>
              <a:t>compose.yml</a:t>
            </a:r>
            <a:endParaRPr lang="es-MX" sz="4000" b="1" dirty="0">
              <a:solidFill>
                <a:schemeClr val="bg2">
                  <a:lumMod val="60000"/>
                  <a:lumOff val="40000"/>
                </a:schemeClr>
              </a:solidFill>
              <a:latin typeface="Google Sans"/>
            </a:endParaRP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2" y="1027134"/>
            <a:ext cx="10315482" cy="3273934"/>
          </a:xfrm>
        </p:spPr>
        <p:txBody>
          <a:bodyPr>
            <a:normAutofit/>
          </a:bodyPr>
          <a:lstStyle/>
          <a:p>
            <a:pPr marL="0" indent="0" algn="just">
              <a:buNone/>
            </a:pPr>
            <a:r>
              <a:rPr lang="es-ES" sz="3200" dirty="0">
                <a:solidFill>
                  <a:schemeClr val="tx1"/>
                </a:solidFill>
                <a:latin typeface="Google Sans"/>
              </a:rPr>
              <a:t>Es un archivo en formato YAML donde se describen los servicios, redes, volúmenes y variables que componen la aplicación. YAML es sensible a la </a:t>
            </a:r>
            <a:r>
              <a:rPr lang="es-ES" sz="3200" dirty="0" err="1">
                <a:solidFill>
                  <a:schemeClr val="tx1"/>
                </a:solidFill>
                <a:latin typeface="Google Sans"/>
              </a:rPr>
              <a:t>indentación</a:t>
            </a:r>
            <a:r>
              <a:rPr lang="es-ES" sz="3200" dirty="0">
                <a:solidFill>
                  <a:schemeClr val="tx1"/>
                </a:solidFill>
                <a:latin typeface="Google Sans"/>
              </a:rPr>
              <a:t> (se usan espacios, nunca tabulaciones) y estructura la información como pares clave-valor y listas anidadas.</a:t>
            </a:r>
            <a:endParaRPr lang="es-ES" sz="3200" b="1" dirty="0">
              <a:solidFill>
                <a:schemeClr val="tx2">
                  <a:lumMod val="75000"/>
                </a:schemeClr>
              </a:solidFill>
              <a:latin typeface="Google Sans"/>
            </a:endParaRPr>
          </a:p>
        </p:txBody>
      </p:sp>
      <p:pic>
        <p:nvPicPr>
          <p:cNvPr id="4" name="Picture 4" descr="TecNM | Campus Milpa Alta II">
            <a:extLst>
              <a:ext uri="{FF2B5EF4-FFF2-40B4-BE49-F238E27FC236}">
                <a16:creationId xmlns:a16="http://schemas.microsoft.com/office/drawing/2014/main" id="{B34B1328-76BB-4C73-ACFC-EB524D638F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474621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Redes en </a:t>
            </a:r>
            <a:r>
              <a:rPr lang="es-MX" sz="4000" b="1" dirty="0" err="1">
                <a:solidFill>
                  <a:schemeClr val="bg2">
                    <a:lumMod val="60000"/>
                    <a:lumOff val="40000"/>
                  </a:schemeClr>
                </a:solidFill>
                <a:latin typeface="Google Sans"/>
              </a:rPr>
              <a:t>Compose</a:t>
            </a:r>
            <a:endParaRPr lang="es-MX" sz="4000" b="1" dirty="0">
              <a:solidFill>
                <a:schemeClr val="bg2">
                  <a:lumMod val="60000"/>
                  <a:lumOff val="40000"/>
                </a:schemeClr>
              </a:solidFill>
              <a:latin typeface="Google Sans"/>
            </a:endParaRP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1" y="863601"/>
            <a:ext cx="10194459" cy="3950446"/>
          </a:xfrm>
        </p:spPr>
        <p:txBody>
          <a:bodyPr>
            <a:normAutofit/>
          </a:bodyPr>
          <a:lstStyle/>
          <a:p>
            <a:pPr marL="0" indent="0" algn="just">
              <a:buNone/>
            </a:pPr>
            <a:r>
              <a:rPr lang="es-ES" sz="3200" dirty="0">
                <a:solidFill>
                  <a:schemeClr val="tx1"/>
                </a:solidFill>
                <a:latin typeface="Google Sans"/>
              </a:rPr>
              <a:t>Si no se define explícitamente ninguna red, </a:t>
            </a:r>
            <a:r>
              <a:rPr lang="es-ES" sz="3200" dirty="0" err="1">
                <a:solidFill>
                  <a:schemeClr val="tx1"/>
                </a:solidFill>
                <a:latin typeface="Google Sans"/>
              </a:rPr>
              <a:t>Compose</a:t>
            </a:r>
            <a:r>
              <a:rPr lang="es-ES" sz="3200" dirty="0">
                <a:solidFill>
                  <a:schemeClr val="tx1"/>
                </a:solidFill>
                <a:latin typeface="Google Sans"/>
              </a:rPr>
              <a:t> crea automáticamente una red bridge propia para el proyecto, y todos los servicios pueden resolverse entre sí por su nombre de servicio, igual que ocurre al usar </a:t>
            </a:r>
            <a:r>
              <a:rPr lang="es-ES" sz="3200" dirty="0" err="1">
                <a:solidFill>
                  <a:schemeClr val="tx1"/>
                </a:solidFill>
                <a:latin typeface="Google Sans"/>
              </a:rPr>
              <a:t>docker</a:t>
            </a:r>
            <a:r>
              <a:rPr lang="es-ES" sz="3200" dirty="0">
                <a:solidFill>
                  <a:schemeClr val="tx1"/>
                </a:solidFill>
                <a:latin typeface="Google Sans"/>
              </a:rPr>
              <a:t> </a:t>
            </a:r>
            <a:r>
              <a:rPr lang="es-ES" sz="3200" dirty="0" err="1">
                <a:solidFill>
                  <a:schemeClr val="tx1"/>
                </a:solidFill>
                <a:latin typeface="Google Sans"/>
              </a:rPr>
              <a:t>network</a:t>
            </a:r>
            <a:r>
              <a:rPr lang="es-ES" sz="3200" dirty="0">
                <a:solidFill>
                  <a:schemeClr val="tx1"/>
                </a:solidFill>
                <a:latin typeface="Google Sans"/>
              </a:rPr>
              <a:t> </a:t>
            </a:r>
            <a:r>
              <a:rPr lang="es-ES" sz="3200" dirty="0" err="1">
                <a:solidFill>
                  <a:schemeClr val="tx1"/>
                </a:solidFill>
                <a:latin typeface="Google Sans"/>
              </a:rPr>
              <a:t>create</a:t>
            </a:r>
            <a:r>
              <a:rPr lang="es-ES" sz="3200" dirty="0">
                <a:solidFill>
                  <a:schemeClr val="tx1"/>
                </a:solidFill>
                <a:latin typeface="Google Sans"/>
              </a:rPr>
              <a:t> de forma manual.</a:t>
            </a:r>
          </a:p>
        </p:txBody>
      </p:sp>
      <p:pic>
        <p:nvPicPr>
          <p:cNvPr id="4" name="Picture 4" descr="TecNM | Campus Milpa Alta II">
            <a:extLst>
              <a:ext uri="{FF2B5EF4-FFF2-40B4-BE49-F238E27FC236}">
                <a16:creationId xmlns:a16="http://schemas.microsoft.com/office/drawing/2014/main" id="{5E92CF3D-A75E-4923-B56D-B4B47DDFFF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440586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Volúmenes en </a:t>
            </a:r>
            <a:r>
              <a:rPr lang="es-MX" sz="4000" b="1" dirty="0" err="1">
                <a:solidFill>
                  <a:schemeClr val="bg2">
                    <a:lumMod val="60000"/>
                    <a:lumOff val="40000"/>
                  </a:schemeClr>
                </a:solidFill>
                <a:latin typeface="Google Sans"/>
              </a:rPr>
              <a:t>Compose</a:t>
            </a:r>
            <a:endParaRPr lang="es-MX" sz="4000" b="1" dirty="0">
              <a:solidFill>
                <a:schemeClr val="bg2">
                  <a:lumMod val="60000"/>
                  <a:lumOff val="40000"/>
                </a:schemeClr>
              </a:solidFill>
              <a:latin typeface="Google Sans"/>
            </a:endParaRP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1" y="863601"/>
            <a:ext cx="10194459" cy="3950446"/>
          </a:xfrm>
        </p:spPr>
        <p:txBody>
          <a:bodyPr>
            <a:normAutofit/>
          </a:bodyPr>
          <a:lstStyle/>
          <a:p>
            <a:pPr marL="0" indent="0" algn="just">
              <a:buNone/>
            </a:pPr>
            <a:r>
              <a:rPr lang="es-ES" sz="3200" dirty="0">
                <a:solidFill>
                  <a:schemeClr val="tx1"/>
                </a:solidFill>
                <a:latin typeface="Google Sans"/>
              </a:rPr>
              <a:t>Se declaran en la sección </a:t>
            </a:r>
            <a:r>
              <a:rPr lang="es-ES" sz="3200" dirty="0" err="1">
                <a:solidFill>
                  <a:schemeClr val="tx1"/>
                </a:solidFill>
                <a:latin typeface="Google Sans"/>
              </a:rPr>
              <a:t>volumes</a:t>
            </a:r>
            <a:r>
              <a:rPr lang="es-ES" sz="3200" dirty="0">
                <a:solidFill>
                  <a:schemeClr val="tx1"/>
                </a:solidFill>
                <a:latin typeface="Google Sans"/>
              </a:rPr>
              <a:t> de nivel superior y se referencian dentro de cada servicio, exactamente igual que en </a:t>
            </a:r>
            <a:r>
              <a:rPr lang="es-ES" sz="3200" dirty="0" err="1">
                <a:solidFill>
                  <a:schemeClr val="tx1"/>
                </a:solidFill>
                <a:latin typeface="Google Sans"/>
              </a:rPr>
              <a:t>docker</a:t>
            </a:r>
            <a:r>
              <a:rPr lang="es-ES" sz="3200" dirty="0">
                <a:solidFill>
                  <a:schemeClr val="tx1"/>
                </a:solidFill>
                <a:latin typeface="Google Sans"/>
              </a:rPr>
              <a:t> run, pero de forma declarativa y reproducible.</a:t>
            </a:r>
          </a:p>
        </p:txBody>
      </p:sp>
      <p:pic>
        <p:nvPicPr>
          <p:cNvPr id="4" name="Picture 4" descr="TecNM | Campus Milpa Alta II">
            <a:extLst>
              <a:ext uri="{FF2B5EF4-FFF2-40B4-BE49-F238E27FC236}">
                <a16:creationId xmlns:a16="http://schemas.microsoft.com/office/drawing/2014/main" id="{22E2F291-858A-4036-8D6E-FD1DEE6F82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612460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normAutofit/>
          </a:bodyPr>
          <a:lstStyle/>
          <a:p>
            <a:r>
              <a:rPr lang="es-ES" b="1" dirty="0">
                <a:solidFill>
                  <a:schemeClr val="bg2">
                    <a:lumMod val="60000"/>
                    <a:lumOff val="40000"/>
                  </a:schemeClr>
                </a:solidFill>
                <a:latin typeface="Google Sans"/>
              </a:rPr>
              <a:t>Variables de entorno y archivo .</a:t>
            </a:r>
            <a:r>
              <a:rPr lang="es-ES" b="1" dirty="0" err="1">
                <a:solidFill>
                  <a:schemeClr val="bg2">
                    <a:lumMod val="60000"/>
                    <a:lumOff val="40000"/>
                  </a:schemeClr>
                </a:solidFill>
                <a:latin typeface="Google Sans"/>
              </a:rPr>
              <a:t>env</a:t>
            </a:r>
            <a:endParaRPr lang="es-MX" b="1" dirty="0">
              <a:solidFill>
                <a:schemeClr val="bg2">
                  <a:lumMod val="60000"/>
                  <a:lumOff val="40000"/>
                </a:schemeClr>
              </a:solidFill>
              <a:latin typeface="Google Sans"/>
            </a:endParaRP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1" y="863601"/>
            <a:ext cx="10194459" cy="3950446"/>
          </a:xfrm>
        </p:spPr>
        <p:txBody>
          <a:bodyPr>
            <a:normAutofit fontScale="92500" lnSpcReduction="20000"/>
          </a:bodyPr>
          <a:lstStyle/>
          <a:p>
            <a:pPr marL="0" indent="0" algn="just">
              <a:buNone/>
            </a:pPr>
            <a:r>
              <a:rPr lang="es-ES" sz="3200" dirty="0">
                <a:solidFill>
                  <a:schemeClr val="tx1"/>
                </a:solidFill>
                <a:latin typeface="Google Sans"/>
              </a:rPr>
              <a:t>La sección </a:t>
            </a:r>
            <a:r>
              <a:rPr lang="es-ES" sz="3200" dirty="0" err="1">
                <a:solidFill>
                  <a:schemeClr val="tx1"/>
                </a:solidFill>
                <a:latin typeface="Google Sans"/>
              </a:rPr>
              <a:t>environment</a:t>
            </a:r>
            <a:r>
              <a:rPr lang="es-ES" sz="3200" dirty="0">
                <a:solidFill>
                  <a:schemeClr val="tx1"/>
                </a:solidFill>
                <a:latin typeface="Google Sans"/>
              </a:rPr>
              <a:t> define variables dentro del contenedor. </a:t>
            </a:r>
            <a:r>
              <a:rPr lang="es-ES" sz="3200" dirty="0" err="1">
                <a:solidFill>
                  <a:schemeClr val="tx1"/>
                </a:solidFill>
                <a:latin typeface="Google Sans"/>
              </a:rPr>
              <a:t>Compose</a:t>
            </a:r>
            <a:r>
              <a:rPr lang="es-ES" sz="3200" dirty="0">
                <a:solidFill>
                  <a:schemeClr val="tx1"/>
                </a:solidFill>
                <a:latin typeface="Google Sans"/>
              </a:rPr>
              <a:t> puede además leer automáticamente un archivo .</a:t>
            </a:r>
            <a:r>
              <a:rPr lang="es-ES" sz="3200" dirty="0" err="1">
                <a:solidFill>
                  <a:schemeClr val="tx1"/>
                </a:solidFill>
                <a:latin typeface="Google Sans"/>
              </a:rPr>
              <a:t>env</a:t>
            </a:r>
            <a:r>
              <a:rPr lang="es-ES" sz="3200" dirty="0">
                <a:solidFill>
                  <a:schemeClr val="tx1"/>
                </a:solidFill>
                <a:latin typeface="Google Sans"/>
              </a:rPr>
              <a:t> ubicado junto al </a:t>
            </a:r>
            <a:r>
              <a:rPr lang="es-ES" sz="3200" dirty="0" err="1">
                <a:solidFill>
                  <a:schemeClr val="tx1"/>
                </a:solidFill>
                <a:latin typeface="Google Sans"/>
              </a:rPr>
              <a:t>compose.yml</a:t>
            </a:r>
            <a:r>
              <a:rPr lang="es-ES" sz="3200" dirty="0">
                <a:solidFill>
                  <a:schemeClr val="tx1"/>
                </a:solidFill>
                <a:latin typeface="Google Sans"/>
              </a:rPr>
              <a:t>, sustituyendo referencias como ${DB_NAME} por el valor definido en ese archivo, lo cual permite separar configuración sensible o específica del entorno del propio código.</a:t>
            </a:r>
          </a:p>
          <a:p>
            <a:pPr marL="0" indent="0" algn="just">
              <a:buNone/>
            </a:pPr>
            <a:r>
              <a:rPr lang="es-MX" sz="3200" dirty="0">
                <a:solidFill>
                  <a:schemeClr val="tx2">
                    <a:lumMod val="75000"/>
                  </a:schemeClr>
                </a:solidFill>
                <a:latin typeface="Google Sans"/>
              </a:rPr>
              <a:t># archivo .</a:t>
            </a:r>
            <a:r>
              <a:rPr lang="es-MX" sz="3200" dirty="0" err="1">
                <a:solidFill>
                  <a:schemeClr val="tx2">
                    <a:lumMod val="75000"/>
                  </a:schemeClr>
                </a:solidFill>
                <a:latin typeface="Google Sans"/>
              </a:rPr>
              <a:t>env</a:t>
            </a:r>
            <a:endParaRPr lang="es-MX" sz="3200" dirty="0">
              <a:solidFill>
                <a:schemeClr val="tx2">
                  <a:lumMod val="75000"/>
                </a:schemeClr>
              </a:solidFill>
              <a:latin typeface="Google Sans"/>
            </a:endParaRPr>
          </a:p>
          <a:p>
            <a:pPr marL="457200" lvl="1" indent="0" algn="just">
              <a:buNone/>
            </a:pPr>
            <a:r>
              <a:rPr lang="es-MX" sz="3000" dirty="0">
                <a:solidFill>
                  <a:schemeClr val="tx2">
                    <a:lumMod val="75000"/>
                  </a:schemeClr>
                </a:solidFill>
                <a:latin typeface="Google Sans"/>
              </a:rPr>
              <a:t>DB_NAME=demo</a:t>
            </a:r>
          </a:p>
          <a:p>
            <a:pPr marL="457200" lvl="1" indent="0" algn="just">
              <a:buNone/>
            </a:pPr>
            <a:r>
              <a:rPr lang="es-MX" sz="3000" dirty="0">
                <a:solidFill>
                  <a:schemeClr val="tx2">
                    <a:lumMod val="75000"/>
                  </a:schemeClr>
                </a:solidFill>
                <a:latin typeface="Google Sans"/>
              </a:rPr>
              <a:t>DB_ROOT_PASSWORD=secreto123</a:t>
            </a:r>
          </a:p>
          <a:p>
            <a:pPr marL="0" indent="0" algn="just">
              <a:buNone/>
            </a:pPr>
            <a:endParaRPr lang="es-MX" sz="3200" dirty="0">
              <a:solidFill>
                <a:schemeClr val="tx1"/>
              </a:solidFill>
              <a:latin typeface="Google Sans"/>
            </a:endParaRPr>
          </a:p>
        </p:txBody>
      </p:sp>
      <p:pic>
        <p:nvPicPr>
          <p:cNvPr id="4" name="Picture 4" descr="TecNM | Campus Milpa Alta II">
            <a:extLst>
              <a:ext uri="{FF2B5EF4-FFF2-40B4-BE49-F238E27FC236}">
                <a16:creationId xmlns:a16="http://schemas.microsoft.com/office/drawing/2014/main" id="{FA80FB92-9C07-43F4-A33B-E3A3275146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7177137"/>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Dependencias entre servicios</a:t>
            </a: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2" y="863601"/>
            <a:ext cx="10076922" cy="3412066"/>
          </a:xfrm>
        </p:spPr>
        <p:txBody>
          <a:bodyPr>
            <a:normAutofit lnSpcReduction="10000"/>
          </a:bodyPr>
          <a:lstStyle/>
          <a:p>
            <a:pPr marL="0" indent="0" algn="just">
              <a:buNone/>
            </a:pPr>
            <a:r>
              <a:rPr lang="es-ES" sz="3200" dirty="0" err="1">
                <a:solidFill>
                  <a:schemeClr val="tx1"/>
                </a:solidFill>
                <a:latin typeface="Google Sans"/>
              </a:rPr>
              <a:t>depends_on</a:t>
            </a:r>
            <a:r>
              <a:rPr lang="es-ES" sz="3200" dirty="0">
                <a:solidFill>
                  <a:schemeClr val="tx1"/>
                </a:solidFill>
                <a:latin typeface="Google Sans"/>
              </a:rPr>
              <a:t> establece el orden de arranque entre servicios (por ejemplo, que 'app' inicie después de '</a:t>
            </a:r>
            <a:r>
              <a:rPr lang="es-ES" sz="3200" dirty="0" err="1">
                <a:solidFill>
                  <a:schemeClr val="tx1"/>
                </a:solidFill>
                <a:latin typeface="Google Sans"/>
              </a:rPr>
              <a:t>db</a:t>
            </a:r>
            <a:r>
              <a:rPr lang="es-ES" sz="3200" dirty="0">
                <a:solidFill>
                  <a:schemeClr val="tx1"/>
                </a:solidFill>
                <a:latin typeface="Google Sans"/>
              </a:rPr>
              <a:t>'), pero por sí solo no espera a que el servicio dependiente esté realmente listo para recibir conexiones, solo a que el contenedor haya iniciado. Para esperar disponibilidad real se recomienda usar </a:t>
            </a:r>
            <a:r>
              <a:rPr lang="es-ES" sz="3200" dirty="0" err="1">
                <a:solidFill>
                  <a:schemeClr val="tx1"/>
                </a:solidFill>
                <a:latin typeface="Google Sans"/>
              </a:rPr>
              <a:t>healthchecks</a:t>
            </a:r>
            <a:r>
              <a:rPr lang="es-ES" sz="3200" dirty="0">
                <a:solidFill>
                  <a:schemeClr val="tx1"/>
                </a:solidFill>
                <a:latin typeface="Google Sans"/>
              </a:rPr>
              <a:t> combinados con la condición </a:t>
            </a:r>
            <a:r>
              <a:rPr lang="es-ES" sz="3200" dirty="0" err="1">
                <a:solidFill>
                  <a:schemeClr val="tx1"/>
                </a:solidFill>
                <a:latin typeface="Google Sans"/>
              </a:rPr>
              <a:t>service_healthy</a:t>
            </a:r>
            <a:r>
              <a:rPr lang="es-ES" sz="3200" dirty="0">
                <a:solidFill>
                  <a:schemeClr val="tx1"/>
                </a:solidFill>
                <a:latin typeface="Google Sans"/>
              </a:rPr>
              <a:t>.</a:t>
            </a:r>
            <a:endParaRPr lang="es-MX" sz="3200" dirty="0">
              <a:solidFill>
                <a:schemeClr val="tx1"/>
              </a:solidFill>
              <a:latin typeface="Google Sans"/>
            </a:endParaRPr>
          </a:p>
        </p:txBody>
      </p:sp>
      <p:pic>
        <p:nvPicPr>
          <p:cNvPr id="4" name="Picture 4" descr="TecNM | Campus Milpa Alta II">
            <a:extLst>
              <a:ext uri="{FF2B5EF4-FFF2-40B4-BE49-F238E27FC236}">
                <a16:creationId xmlns:a16="http://schemas.microsoft.com/office/drawing/2014/main" id="{C5940116-DB48-4353-A7D7-15A68B0262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8040651"/>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Comandos esenciales de Docker </a:t>
            </a:r>
            <a:r>
              <a:rPr lang="es-MX" sz="4000" b="1" dirty="0" err="1">
                <a:solidFill>
                  <a:schemeClr val="bg2">
                    <a:lumMod val="60000"/>
                    <a:lumOff val="40000"/>
                  </a:schemeClr>
                </a:solidFill>
                <a:latin typeface="Google Sans"/>
              </a:rPr>
              <a:t>Compose</a:t>
            </a:r>
            <a:endParaRPr lang="es-MX" sz="4000" b="1" dirty="0">
              <a:solidFill>
                <a:schemeClr val="bg2">
                  <a:lumMod val="60000"/>
                  <a:lumOff val="40000"/>
                </a:schemeClr>
              </a:solidFill>
              <a:latin typeface="Google Sans"/>
            </a:endParaRPr>
          </a:p>
        </p:txBody>
      </p:sp>
      <p:pic>
        <p:nvPicPr>
          <p:cNvPr id="4" name="Picture 4" descr="TecNM | Campus Milpa Alta II">
            <a:extLst>
              <a:ext uri="{FF2B5EF4-FFF2-40B4-BE49-F238E27FC236}">
                <a16:creationId xmlns:a16="http://schemas.microsoft.com/office/drawing/2014/main" id="{32060D68-1B70-44DA-9D33-6A7A6040FE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BD55719E-2622-4384-B664-B40780D75B5D}"/>
              </a:ext>
            </a:extLst>
          </p:cNvPr>
          <p:cNvPicPr>
            <a:picLocks noChangeAspect="1"/>
          </p:cNvPicPr>
          <p:nvPr/>
        </p:nvPicPr>
        <p:blipFill>
          <a:blip r:embed="rId3"/>
          <a:stretch>
            <a:fillRect/>
          </a:stretch>
        </p:blipFill>
        <p:spPr>
          <a:xfrm>
            <a:off x="781992" y="564282"/>
            <a:ext cx="9951794" cy="3923049"/>
          </a:xfrm>
          <a:prstGeom prst="rect">
            <a:avLst/>
          </a:prstGeom>
        </p:spPr>
      </p:pic>
    </p:spTree>
    <p:extLst>
      <p:ext uri="{BB962C8B-B14F-4D97-AF65-F5344CB8AC3E}">
        <p14:creationId xmlns:p14="http://schemas.microsoft.com/office/powerpoint/2010/main" val="402058928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8D60EF-0DBA-49EB-92F6-455C4FEA4CA1}"/>
              </a:ext>
            </a:extLst>
          </p:cNvPr>
          <p:cNvSpPr>
            <a:spLocks noGrp="1"/>
          </p:cNvSpPr>
          <p:nvPr>
            <p:ph type="ctrTitle"/>
          </p:nvPr>
        </p:nvSpPr>
        <p:spPr>
          <a:xfrm>
            <a:off x="1574801" y="1223682"/>
            <a:ext cx="7784352" cy="1546413"/>
          </a:xfrm>
        </p:spPr>
        <p:txBody>
          <a:bodyPr>
            <a:normAutofit/>
          </a:bodyPr>
          <a:lstStyle/>
          <a:p>
            <a:r>
              <a:rPr lang="es-MX" sz="5400" b="1" dirty="0">
                <a:solidFill>
                  <a:schemeClr val="tx2">
                    <a:lumMod val="50000"/>
                  </a:schemeClr>
                </a:solidFill>
                <a:latin typeface="Agency FB" panose="020B0503020202020204" pitchFamily="34" charset="0"/>
              </a:rPr>
              <a:t>Redes</a:t>
            </a:r>
            <a:endParaRPr lang="es-MX" sz="5400" dirty="0">
              <a:solidFill>
                <a:schemeClr val="tx2">
                  <a:lumMod val="50000"/>
                </a:schemeClr>
              </a:solidFill>
            </a:endParaRPr>
          </a:p>
        </p:txBody>
      </p:sp>
      <p:pic>
        <p:nvPicPr>
          <p:cNvPr id="4098" name="Picture 2">
            <a:extLst>
              <a:ext uri="{FF2B5EF4-FFF2-40B4-BE49-F238E27FC236}">
                <a16:creationId xmlns:a16="http://schemas.microsoft.com/office/drawing/2014/main" id="{903E5CFC-F983-432E-95B1-26009D1B048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8000" r="92800">
                        <a14:foregroundMark x1="12800" y1="68400" x2="8000" y2="59600"/>
                        <a14:foregroundMark x1="83600" y1="34400" x2="92800" y2="37200"/>
                      </a14:backgroundRemoval>
                    </a14:imgEffect>
                  </a14:imgLayer>
                </a14:imgProps>
              </a:ext>
              <a:ext uri="{28A0092B-C50C-407E-A947-70E740481C1C}">
                <a14:useLocalDpi xmlns:a14="http://schemas.microsoft.com/office/drawing/2010/main" val="0"/>
              </a:ext>
            </a:extLst>
          </a:blip>
          <a:srcRect/>
          <a:stretch>
            <a:fillRect/>
          </a:stretch>
        </p:blipFill>
        <p:spPr bwMode="auto">
          <a:xfrm>
            <a:off x="1425575" y="2526646"/>
            <a:ext cx="3122519" cy="312251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4" name="Picture 4" descr="TecNM | Campus Milpa Alta II">
            <a:extLst>
              <a:ext uri="{FF2B5EF4-FFF2-40B4-BE49-F238E27FC236}">
                <a16:creationId xmlns:a16="http://schemas.microsoft.com/office/drawing/2014/main" id="{7ABA512C-7BE2-4EBF-AD35-AF29EE8783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9494339"/>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Redes personalizadas</a:t>
            </a: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1" y="1100667"/>
            <a:ext cx="10246255" cy="3175000"/>
          </a:xfrm>
        </p:spPr>
        <p:txBody>
          <a:bodyPr>
            <a:normAutofit fontScale="85000" lnSpcReduction="20000"/>
          </a:bodyPr>
          <a:lstStyle/>
          <a:p>
            <a:pPr marL="0" indent="0" algn="just">
              <a:buNone/>
            </a:pPr>
            <a:r>
              <a:rPr lang="es-MX" sz="3200" dirty="0">
                <a:solidFill>
                  <a:schemeClr val="tx1"/>
                </a:solidFill>
                <a:latin typeface="Google Sans"/>
              </a:rPr>
              <a:t>Crear una red bridge propia (en lugar de usar la red 'bridge' por defecto) habilita resolución DNS automática entre contenedores por nombre, algo que la red bridge por defecto no ofrece.</a:t>
            </a:r>
          </a:p>
          <a:p>
            <a:pPr marL="0" indent="0" algn="just">
              <a:buNone/>
            </a:pPr>
            <a:endParaRPr lang="es-MX" sz="3200" dirty="0">
              <a:solidFill>
                <a:schemeClr val="tx1"/>
              </a:solidFill>
              <a:latin typeface="Google Sans"/>
            </a:endParaRPr>
          </a:p>
          <a:p>
            <a:pPr marL="457200" lvl="1" indent="0" algn="just">
              <a:buNone/>
            </a:pPr>
            <a:r>
              <a:rPr lang="es-MX" sz="2800" b="1" dirty="0" err="1">
                <a:solidFill>
                  <a:schemeClr val="tx2">
                    <a:lumMod val="75000"/>
                  </a:schemeClr>
                </a:solidFill>
                <a:latin typeface="Google Sans"/>
              </a:rPr>
              <a:t>docker</a:t>
            </a:r>
            <a:r>
              <a:rPr lang="es-MX" sz="2800" b="1" dirty="0">
                <a:solidFill>
                  <a:schemeClr val="tx2">
                    <a:lumMod val="75000"/>
                  </a:schemeClr>
                </a:solidFill>
                <a:latin typeface="Google Sans"/>
              </a:rPr>
              <a:t> </a:t>
            </a:r>
            <a:r>
              <a:rPr lang="es-MX" sz="2800" b="1" dirty="0" err="1">
                <a:solidFill>
                  <a:schemeClr val="tx2">
                    <a:lumMod val="75000"/>
                  </a:schemeClr>
                </a:solidFill>
                <a:latin typeface="Google Sans"/>
              </a:rPr>
              <a:t>network</a:t>
            </a:r>
            <a:r>
              <a:rPr lang="es-MX" sz="2800" b="1" dirty="0">
                <a:solidFill>
                  <a:schemeClr val="tx2">
                    <a:lumMod val="75000"/>
                  </a:schemeClr>
                </a:solidFill>
                <a:latin typeface="Google Sans"/>
              </a:rPr>
              <a:t> </a:t>
            </a:r>
            <a:r>
              <a:rPr lang="es-MX" sz="2800" b="1" dirty="0" err="1">
                <a:solidFill>
                  <a:schemeClr val="tx2">
                    <a:lumMod val="75000"/>
                  </a:schemeClr>
                </a:solidFill>
                <a:latin typeface="Google Sans"/>
              </a:rPr>
              <a:t>create</a:t>
            </a:r>
            <a:r>
              <a:rPr lang="es-MX" sz="2800" b="1" dirty="0">
                <a:solidFill>
                  <a:schemeClr val="tx2">
                    <a:lumMod val="75000"/>
                  </a:schemeClr>
                </a:solidFill>
                <a:latin typeface="Google Sans"/>
              </a:rPr>
              <a:t> red-app</a:t>
            </a:r>
          </a:p>
          <a:p>
            <a:pPr marL="457200" lvl="1" indent="0" algn="just">
              <a:buNone/>
            </a:pPr>
            <a:r>
              <a:rPr lang="es-MX" sz="2800" b="1" dirty="0" err="1">
                <a:solidFill>
                  <a:schemeClr val="tx2">
                    <a:lumMod val="75000"/>
                  </a:schemeClr>
                </a:solidFill>
                <a:latin typeface="Google Sans"/>
              </a:rPr>
              <a:t>docker</a:t>
            </a:r>
            <a:r>
              <a:rPr lang="es-MX" sz="2800" b="1" dirty="0">
                <a:solidFill>
                  <a:schemeClr val="tx2">
                    <a:lumMod val="75000"/>
                  </a:schemeClr>
                </a:solidFill>
                <a:latin typeface="Google Sans"/>
              </a:rPr>
              <a:t> </a:t>
            </a:r>
            <a:r>
              <a:rPr lang="es-MX" sz="2800" b="1" dirty="0" err="1">
                <a:solidFill>
                  <a:schemeClr val="tx2">
                    <a:lumMod val="75000"/>
                  </a:schemeClr>
                </a:solidFill>
                <a:latin typeface="Google Sans"/>
              </a:rPr>
              <a:t>network</a:t>
            </a:r>
            <a:r>
              <a:rPr lang="es-MX" sz="2800" b="1" dirty="0">
                <a:solidFill>
                  <a:schemeClr val="tx2">
                    <a:lumMod val="75000"/>
                  </a:schemeClr>
                </a:solidFill>
                <a:latin typeface="Google Sans"/>
              </a:rPr>
              <a:t> </a:t>
            </a:r>
            <a:r>
              <a:rPr lang="es-MX" sz="2800" b="1" dirty="0" err="1">
                <a:solidFill>
                  <a:schemeClr val="tx2">
                    <a:lumMod val="75000"/>
                  </a:schemeClr>
                </a:solidFill>
                <a:latin typeface="Google Sans"/>
              </a:rPr>
              <a:t>ls</a:t>
            </a:r>
            <a:endParaRPr lang="es-MX" sz="2800" b="1" dirty="0">
              <a:solidFill>
                <a:schemeClr val="tx2">
                  <a:lumMod val="75000"/>
                </a:schemeClr>
              </a:solidFill>
              <a:latin typeface="Google Sans"/>
            </a:endParaRPr>
          </a:p>
          <a:p>
            <a:pPr marL="457200" lvl="1" indent="0" algn="just">
              <a:buNone/>
            </a:pPr>
            <a:r>
              <a:rPr lang="es-MX" sz="2800" b="1" dirty="0" err="1">
                <a:solidFill>
                  <a:schemeClr val="tx2">
                    <a:lumMod val="75000"/>
                  </a:schemeClr>
                </a:solidFill>
                <a:latin typeface="Google Sans"/>
              </a:rPr>
              <a:t>docker</a:t>
            </a:r>
            <a:r>
              <a:rPr lang="es-MX" sz="2800" b="1" dirty="0">
                <a:solidFill>
                  <a:schemeClr val="tx2">
                    <a:lumMod val="75000"/>
                  </a:schemeClr>
                </a:solidFill>
                <a:latin typeface="Google Sans"/>
              </a:rPr>
              <a:t> </a:t>
            </a:r>
            <a:r>
              <a:rPr lang="es-MX" sz="2800" b="1" dirty="0" err="1">
                <a:solidFill>
                  <a:schemeClr val="tx2">
                    <a:lumMod val="75000"/>
                  </a:schemeClr>
                </a:solidFill>
                <a:latin typeface="Google Sans"/>
              </a:rPr>
              <a:t>network</a:t>
            </a:r>
            <a:r>
              <a:rPr lang="es-MX" sz="2800" b="1" dirty="0">
                <a:solidFill>
                  <a:schemeClr val="tx2">
                    <a:lumMod val="75000"/>
                  </a:schemeClr>
                </a:solidFill>
                <a:latin typeface="Google Sans"/>
              </a:rPr>
              <a:t> </a:t>
            </a:r>
            <a:r>
              <a:rPr lang="es-MX" sz="2800" b="1" dirty="0" err="1">
                <a:solidFill>
                  <a:schemeClr val="tx2">
                    <a:lumMod val="75000"/>
                  </a:schemeClr>
                </a:solidFill>
                <a:latin typeface="Google Sans"/>
              </a:rPr>
              <a:t>inspect</a:t>
            </a:r>
            <a:r>
              <a:rPr lang="es-MX" sz="2800" b="1" dirty="0">
                <a:solidFill>
                  <a:schemeClr val="tx2">
                    <a:lumMod val="75000"/>
                  </a:schemeClr>
                </a:solidFill>
                <a:latin typeface="Google Sans"/>
              </a:rPr>
              <a:t> red-app</a:t>
            </a:r>
          </a:p>
          <a:p>
            <a:pPr marL="0" indent="0" algn="just">
              <a:buNone/>
            </a:pPr>
            <a:endParaRPr lang="es-MX" sz="3200" dirty="0">
              <a:solidFill>
                <a:schemeClr val="tx1"/>
              </a:solidFill>
              <a:latin typeface="Google Sans"/>
            </a:endParaRPr>
          </a:p>
        </p:txBody>
      </p:sp>
      <p:pic>
        <p:nvPicPr>
          <p:cNvPr id="4" name="Picture 4" descr="TecNM | Campus Milpa Alta II">
            <a:extLst>
              <a:ext uri="{FF2B5EF4-FFF2-40B4-BE49-F238E27FC236}">
                <a16:creationId xmlns:a16="http://schemas.microsoft.com/office/drawing/2014/main" id="{A65AC895-D0F5-4B3E-BD9E-8A03D2A926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4564442"/>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Comunicación entre contenedores y DNS interno</a:t>
            </a: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2" y="1312333"/>
            <a:ext cx="10076922" cy="2743200"/>
          </a:xfrm>
        </p:spPr>
        <p:txBody>
          <a:bodyPr>
            <a:normAutofit/>
          </a:bodyPr>
          <a:lstStyle/>
          <a:p>
            <a:pPr marL="0" indent="0" algn="just">
              <a:buNone/>
            </a:pPr>
            <a:r>
              <a:rPr lang="es-MX" sz="3200" dirty="0">
                <a:solidFill>
                  <a:schemeClr val="tx1"/>
                </a:solidFill>
                <a:latin typeface="Google Sans"/>
              </a:rPr>
              <a:t>Cuando varios contenedores comparten una red personalizada, cada uno puede referirse a los demás por su nombre de contenedor (--</a:t>
            </a:r>
            <a:r>
              <a:rPr lang="es-MX" sz="3200" dirty="0" err="1">
                <a:solidFill>
                  <a:schemeClr val="tx1"/>
                </a:solidFill>
                <a:latin typeface="Google Sans"/>
              </a:rPr>
              <a:t>name</a:t>
            </a:r>
            <a:r>
              <a:rPr lang="es-MX" sz="3200" dirty="0">
                <a:solidFill>
                  <a:schemeClr val="tx1"/>
                </a:solidFill>
                <a:latin typeface="Google Sans"/>
              </a:rPr>
              <a:t>), y Docker resuelve automáticamente ese nombre a la IP interna correspondiente mediante su servidor DNS embebido.</a:t>
            </a:r>
          </a:p>
        </p:txBody>
      </p:sp>
      <p:pic>
        <p:nvPicPr>
          <p:cNvPr id="4" name="Picture 4" descr="TecNM | Campus Milpa Alta II">
            <a:extLst>
              <a:ext uri="{FF2B5EF4-FFF2-40B4-BE49-F238E27FC236}">
                <a16:creationId xmlns:a16="http://schemas.microsoft.com/office/drawing/2014/main" id="{05157ED9-DF9E-4D02-A5FC-DF1323797E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37413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Publicación de puertos</a:t>
            </a: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2" y="863601"/>
            <a:ext cx="10076922" cy="3412066"/>
          </a:xfrm>
        </p:spPr>
        <p:txBody>
          <a:bodyPr>
            <a:normAutofit/>
          </a:bodyPr>
          <a:lstStyle/>
          <a:p>
            <a:pPr marL="0" indent="0" algn="just">
              <a:buNone/>
            </a:pPr>
            <a:r>
              <a:rPr lang="es-MX" sz="3200" dirty="0">
                <a:solidFill>
                  <a:schemeClr val="tx1"/>
                </a:solidFill>
                <a:latin typeface="Google Sans"/>
              </a:rPr>
              <a:t>El </a:t>
            </a:r>
            <a:r>
              <a:rPr lang="es-MX" sz="3200" dirty="0" err="1">
                <a:solidFill>
                  <a:schemeClr val="tx1"/>
                </a:solidFill>
                <a:latin typeface="Google Sans"/>
              </a:rPr>
              <a:t>flag</a:t>
            </a:r>
            <a:r>
              <a:rPr lang="es-MX" sz="3200" dirty="0">
                <a:solidFill>
                  <a:schemeClr val="tx1"/>
                </a:solidFill>
                <a:latin typeface="Google Sans"/>
              </a:rPr>
              <a:t> -p </a:t>
            </a:r>
            <a:r>
              <a:rPr lang="es-MX" sz="3200" dirty="0" err="1">
                <a:solidFill>
                  <a:schemeClr val="tx1"/>
                </a:solidFill>
                <a:latin typeface="Google Sans"/>
              </a:rPr>
              <a:t>host:contenedor</a:t>
            </a:r>
            <a:r>
              <a:rPr lang="es-MX" sz="3200" dirty="0">
                <a:solidFill>
                  <a:schemeClr val="tx1"/>
                </a:solidFill>
                <a:latin typeface="Google Sans"/>
              </a:rPr>
              <a:t> expone un puerto del contenedor hacia el host, permitiendo el acceso desde fuera de la red Docker (por ejemplo, desde el navegador de la máquina anfitriona).</a:t>
            </a:r>
          </a:p>
        </p:txBody>
      </p:sp>
      <p:pic>
        <p:nvPicPr>
          <p:cNvPr id="4" name="Picture 4" descr="TecNM | Campus Milpa Alta II">
            <a:extLst>
              <a:ext uri="{FF2B5EF4-FFF2-40B4-BE49-F238E27FC236}">
                <a16:creationId xmlns:a16="http://schemas.microsoft.com/office/drawing/2014/main" id="{F718EC37-5D36-4586-B161-F0096D7E16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2949285"/>
      </p:ext>
    </p:extLst>
  </p:cSld>
  <p:clrMapOvr>
    <a:masterClrMapping/>
  </p:clrMapOvr>
  <p:transition spd="slow">
    <p:push dir="u"/>
  </p:transition>
</p:sld>
</file>

<file path=ppt/theme/theme1.xml><?xml version="1.0" encoding="utf-8"?>
<a:theme xmlns:a="http://schemas.openxmlformats.org/drawingml/2006/main" name="Sector">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430</TotalTime>
  <Words>582</Words>
  <Application>Microsoft Office PowerPoint</Application>
  <PresentationFormat>Panorámica</PresentationFormat>
  <Paragraphs>30</Paragraphs>
  <Slides>13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vt:i4>
      </vt:variant>
    </vt:vector>
  </HeadingPairs>
  <TitlesOfParts>
    <vt:vector size="19" baseType="lpstr">
      <vt:lpstr>Agency FB</vt:lpstr>
      <vt:lpstr>Arial</vt:lpstr>
      <vt:lpstr>Century Gothic</vt:lpstr>
      <vt:lpstr>Google Sans</vt:lpstr>
      <vt:lpstr>Wingdings 3</vt:lpstr>
      <vt:lpstr>Sector</vt:lpstr>
      <vt:lpstr>Docker Compose</vt:lpstr>
      <vt:lpstr>¿Qué es Docker Compose?</vt:lpstr>
      <vt:lpstr>Aplicaciones multicontenedor y servicios</vt:lpstr>
      <vt:lpstr>archivo compose.yml</vt:lpstr>
      <vt:lpstr>Redes en Compose</vt:lpstr>
      <vt:lpstr>Volúmenes en Compose</vt:lpstr>
      <vt:lpstr>Variables de entorno y archivo .env</vt:lpstr>
      <vt:lpstr>Dependencias entre servicios</vt:lpstr>
      <vt:lpstr>Comandos esenciales de Docker Compose</vt:lpstr>
      <vt:lpstr>Redes</vt:lpstr>
      <vt:lpstr>Redes personalizadas</vt:lpstr>
      <vt:lpstr>Comunicación entre contenedores y DNS interno</vt:lpstr>
      <vt:lpstr>Publicación de puertos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Características de Base de Datos NoSQL</dc:title>
  <dc:creator>Diego Sahashi</dc:creator>
  <cp:lastModifiedBy>Diego Sahashi</cp:lastModifiedBy>
  <cp:revision>58</cp:revision>
  <dcterms:created xsi:type="dcterms:W3CDTF">2025-01-29T05:05:03Z</dcterms:created>
  <dcterms:modified xsi:type="dcterms:W3CDTF">2026-08-19T09:44:34Z</dcterms:modified>
</cp:coreProperties>
</file>