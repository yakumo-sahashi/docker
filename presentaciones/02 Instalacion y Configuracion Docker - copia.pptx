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89" r:id="rId2"/>
    <p:sldId id="258" r:id="rId3"/>
    <p:sldId id="259" r:id="rId4"/>
    <p:sldId id="261" r:id="rId5"/>
    <p:sldId id="262" r:id="rId6"/>
    <p:sldId id="276" r:id="rId7"/>
    <p:sldId id="284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2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8/18/2026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68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8D60EF-0DBA-49EB-92F6-455C4FEA4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1686" y="1686593"/>
            <a:ext cx="8001000" cy="1083502"/>
          </a:xfrm>
        </p:spPr>
        <p:txBody>
          <a:bodyPr>
            <a:normAutofit fontScale="90000"/>
          </a:bodyPr>
          <a:lstStyle/>
          <a:p>
            <a:r>
              <a:rPr lang="es-ES" sz="5400" b="1" dirty="0">
                <a:solidFill>
                  <a:schemeClr val="tx2">
                    <a:lumMod val="50000"/>
                  </a:schemeClr>
                </a:solidFill>
                <a:latin typeface="Agency FB" panose="020B0503020202020204" pitchFamily="34" charset="0"/>
              </a:rPr>
              <a:t>Instalación y Gestión de Docker</a:t>
            </a:r>
            <a:endParaRPr lang="es-MX" sz="5400" dirty="0">
              <a:solidFill>
                <a:schemeClr val="tx2">
                  <a:lumMod val="50000"/>
                </a:schemeClr>
              </a:solidFill>
            </a:endParaRPr>
          </a:p>
        </p:txBody>
      </p:sp>
      <p:pic>
        <p:nvPicPr>
          <p:cNvPr id="1026" name="Picture 2" descr="What is Docker and why it is used?">
            <a:extLst>
              <a:ext uri="{FF2B5EF4-FFF2-40B4-BE49-F238E27FC236}">
                <a16:creationId xmlns:a16="http://schemas.microsoft.com/office/drawing/2014/main" id="{8AE6752B-32E8-484C-814B-AAFA83908C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3270" y="3329942"/>
            <a:ext cx="3127469" cy="25867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TecNM | Campus Milpa Alta II">
            <a:extLst>
              <a:ext uri="{FF2B5EF4-FFF2-40B4-BE49-F238E27FC236}">
                <a16:creationId xmlns:a16="http://schemas.microsoft.com/office/drawing/2014/main" id="{0ABFD5C0-29DE-4161-A4C3-F9FFA448BB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7475" y="5864410"/>
            <a:ext cx="954517" cy="910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0669723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FE80EE-DA38-4DF0-A27B-BFDE802C1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sz="4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Google Sans"/>
              </a:rPr>
              <a:t>Docker Desktop (Windows y macOS)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B2A0D91-F11E-42F2-BA22-787DCE366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1014607"/>
            <a:ext cx="10718894" cy="2737121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s-ES" sz="3200" dirty="0">
                <a:solidFill>
                  <a:schemeClr val="tx1"/>
                </a:solidFill>
                <a:latin typeface="Google Sans"/>
              </a:rPr>
              <a:t>Docker Desktop es la forma recomendada de instalar Docker en estaciones de trabajo Windows y macOS. Incluye el Docker 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Engine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, Docker CLI, Docker 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Compose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 y una interfaz gráfica de administración.</a:t>
            </a:r>
          </a:p>
          <a:p>
            <a:pPr algn="just"/>
            <a:r>
              <a:rPr lang="es-ES" sz="3200" dirty="0">
                <a:solidFill>
                  <a:schemeClr val="tx1"/>
                </a:solidFill>
                <a:latin typeface="Google Sans"/>
              </a:rPr>
              <a:t>Windows: requiere Windows 10/11 de 64 bits con WSL2 habilitado (recomendado) o 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Hyper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-V como 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backend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.</a:t>
            </a:r>
          </a:p>
          <a:p>
            <a:pPr algn="just"/>
            <a:r>
              <a:rPr lang="es-ES" sz="3200" dirty="0">
                <a:solidFill>
                  <a:schemeClr val="tx1"/>
                </a:solidFill>
                <a:latin typeface="Google Sans"/>
              </a:rPr>
              <a:t>MacOS: requiere macOS reciente (Intel o Apple Silicon); usa un hipervisor ligero nativo del sistema (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Virtualization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 Framework).</a:t>
            </a:r>
          </a:p>
        </p:txBody>
      </p:sp>
      <p:pic>
        <p:nvPicPr>
          <p:cNvPr id="4" name="Picture 4" descr="TecNM | Campus Milpa Alta II">
            <a:extLst>
              <a:ext uri="{FF2B5EF4-FFF2-40B4-BE49-F238E27FC236}">
                <a16:creationId xmlns:a16="http://schemas.microsoft.com/office/drawing/2014/main" id="{E26EBE02-8363-4931-95F7-86CD50292E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7475" y="5864410"/>
            <a:ext cx="954517" cy="910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443195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E3E240-F19C-4A5F-969E-64411693E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sz="4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Google Sans"/>
              </a:rPr>
              <a:t>Windows + WSL2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103B8D-7E4E-4450-905B-D7C007245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0" y="977030"/>
            <a:ext cx="10490295" cy="319155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sz="3200" dirty="0">
                <a:solidFill>
                  <a:schemeClr val="tx1"/>
                </a:solidFill>
                <a:latin typeface="Google Sans"/>
              </a:rPr>
              <a:t>WSL2 (Windows 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Subsystem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 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for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 Linux v2) ejecuta un 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kernel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 Linux real dentro de una VM ligera integrada al sistema. Docker Desktop se apoya en WSL2 para ejecutar el 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daemon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 de Linux de forma nativa, lo que mejora notablemente el rendimiento respecto al 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backend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 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Hyper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-V clásico.</a:t>
            </a:r>
          </a:p>
        </p:txBody>
      </p:sp>
      <p:pic>
        <p:nvPicPr>
          <p:cNvPr id="4" name="Picture 4" descr="TecNM | Campus Milpa Alta II">
            <a:extLst>
              <a:ext uri="{FF2B5EF4-FFF2-40B4-BE49-F238E27FC236}">
                <a16:creationId xmlns:a16="http://schemas.microsoft.com/office/drawing/2014/main" id="{5B9ADB00-506C-48EE-AA64-FEB41C06FD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7475" y="5864410"/>
            <a:ext cx="954517" cy="910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6083064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E3E240-F19C-4A5F-969E-64411693E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sz="4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Google Sans"/>
              </a:rPr>
              <a:t>COMANDOS	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103B8D-7E4E-4450-905B-D7C007245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1027134"/>
            <a:ext cx="10315482" cy="3273934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s-ES" sz="3200" dirty="0">
                <a:solidFill>
                  <a:schemeClr val="tx1"/>
                </a:solidFill>
                <a:latin typeface="Google Sans"/>
              </a:rPr>
              <a:t>Habilitar WSL2 desde PowerShell como administrador</a:t>
            </a:r>
          </a:p>
          <a:p>
            <a:pPr marL="0" indent="0" algn="just">
              <a:buNone/>
            </a:pPr>
            <a:r>
              <a:rPr lang="es-ES" sz="3200" b="1" dirty="0">
                <a:solidFill>
                  <a:schemeClr val="tx2">
                    <a:lumMod val="75000"/>
                  </a:schemeClr>
                </a:solidFill>
                <a:latin typeface="Google Sans"/>
              </a:rPr>
              <a:t>	</a:t>
            </a:r>
            <a:r>
              <a:rPr lang="es-ES" sz="3200" b="1" dirty="0" err="1">
                <a:solidFill>
                  <a:schemeClr val="tx2">
                    <a:lumMod val="75000"/>
                  </a:schemeClr>
                </a:solidFill>
                <a:latin typeface="Google Sans"/>
              </a:rPr>
              <a:t>wsl</a:t>
            </a:r>
            <a:r>
              <a:rPr lang="es-ES" sz="3200" b="1" dirty="0">
                <a:solidFill>
                  <a:schemeClr val="tx2">
                    <a:lumMod val="75000"/>
                  </a:schemeClr>
                </a:solidFill>
                <a:latin typeface="Google Sans"/>
              </a:rPr>
              <a:t> --</a:t>
            </a:r>
            <a:r>
              <a:rPr lang="es-ES" sz="3200" b="1" dirty="0" err="1">
                <a:solidFill>
                  <a:schemeClr val="tx2">
                    <a:lumMod val="75000"/>
                  </a:schemeClr>
                </a:solidFill>
                <a:latin typeface="Google Sans"/>
              </a:rPr>
              <a:t>install</a:t>
            </a:r>
            <a:endParaRPr lang="es-ES" sz="3200" b="1" dirty="0">
              <a:solidFill>
                <a:schemeClr val="tx2">
                  <a:lumMod val="75000"/>
                </a:schemeClr>
              </a:solidFill>
              <a:latin typeface="Google Sans"/>
            </a:endParaRPr>
          </a:p>
          <a:p>
            <a:pPr marL="0" indent="0" algn="just">
              <a:buNone/>
            </a:pPr>
            <a:r>
              <a:rPr lang="es-ES" sz="3200" b="1" dirty="0">
                <a:solidFill>
                  <a:schemeClr val="tx2">
                    <a:lumMod val="75000"/>
                  </a:schemeClr>
                </a:solidFill>
                <a:latin typeface="Google Sans"/>
              </a:rPr>
              <a:t>	</a:t>
            </a:r>
            <a:r>
              <a:rPr lang="es-ES" sz="3200" b="1" dirty="0" err="1">
                <a:solidFill>
                  <a:schemeClr val="tx2">
                    <a:lumMod val="75000"/>
                  </a:schemeClr>
                </a:solidFill>
                <a:latin typeface="Google Sans"/>
              </a:rPr>
              <a:t>wsl</a:t>
            </a:r>
            <a:r>
              <a:rPr lang="es-ES" sz="3200" b="1" dirty="0">
                <a:solidFill>
                  <a:schemeClr val="tx2">
                    <a:lumMod val="75000"/>
                  </a:schemeClr>
                </a:solidFill>
                <a:latin typeface="Google Sans"/>
              </a:rPr>
              <a:t> --set-default-</a:t>
            </a:r>
            <a:r>
              <a:rPr lang="es-ES" sz="3200" b="1" dirty="0" err="1">
                <a:solidFill>
                  <a:schemeClr val="tx2">
                    <a:lumMod val="75000"/>
                  </a:schemeClr>
                </a:solidFill>
                <a:latin typeface="Google Sans"/>
              </a:rPr>
              <a:t>version</a:t>
            </a:r>
            <a:r>
              <a:rPr lang="es-ES" sz="3200" b="1" dirty="0">
                <a:solidFill>
                  <a:schemeClr val="tx2">
                    <a:lumMod val="75000"/>
                  </a:schemeClr>
                </a:solidFill>
                <a:latin typeface="Google Sans"/>
              </a:rPr>
              <a:t> 2</a:t>
            </a:r>
          </a:p>
          <a:p>
            <a:pPr algn="just"/>
            <a:endParaRPr lang="es-ES" sz="3200" dirty="0">
              <a:solidFill>
                <a:schemeClr val="tx1"/>
              </a:solidFill>
              <a:latin typeface="Google Sans"/>
            </a:endParaRPr>
          </a:p>
          <a:p>
            <a:pPr marL="0" indent="0" algn="just">
              <a:buNone/>
            </a:pPr>
            <a:r>
              <a:rPr lang="es-ES" sz="3200" dirty="0">
                <a:solidFill>
                  <a:schemeClr val="tx1"/>
                </a:solidFill>
                <a:latin typeface="Google Sans"/>
              </a:rPr>
              <a:t>Verificar distribuciones instaladas</a:t>
            </a:r>
          </a:p>
          <a:p>
            <a:pPr marL="0" indent="0" algn="just">
              <a:buNone/>
            </a:pPr>
            <a:r>
              <a:rPr lang="es-ES" sz="3200" b="1" dirty="0">
                <a:solidFill>
                  <a:schemeClr val="tx2">
                    <a:lumMod val="75000"/>
                  </a:schemeClr>
                </a:solidFill>
                <a:latin typeface="Google Sans"/>
              </a:rPr>
              <a:t>	</a:t>
            </a:r>
            <a:r>
              <a:rPr lang="es-ES" sz="3200" b="1" dirty="0" err="1">
                <a:solidFill>
                  <a:schemeClr val="tx2">
                    <a:lumMod val="75000"/>
                  </a:schemeClr>
                </a:solidFill>
                <a:latin typeface="Google Sans"/>
              </a:rPr>
              <a:t>wsl</a:t>
            </a:r>
            <a:r>
              <a:rPr lang="es-ES" sz="3200" b="1" dirty="0">
                <a:solidFill>
                  <a:schemeClr val="tx2">
                    <a:lumMod val="75000"/>
                  </a:schemeClr>
                </a:solidFill>
                <a:latin typeface="Google Sans"/>
              </a:rPr>
              <a:t> -l -v</a:t>
            </a:r>
          </a:p>
        </p:txBody>
      </p:sp>
      <p:pic>
        <p:nvPicPr>
          <p:cNvPr id="4" name="Picture 4" descr="TecNM | Campus Milpa Alta II">
            <a:extLst>
              <a:ext uri="{FF2B5EF4-FFF2-40B4-BE49-F238E27FC236}">
                <a16:creationId xmlns:a16="http://schemas.microsoft.com/office/drawing/2014/main" id="{DF29BF6E-F60F-49D2-A65A-EBC0604A9F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7475" y="5864410"/>
            <a:ext cx="954517" cy="910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410463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E3E240-F19C-4A5F-969E-64411693E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sz="4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Google Sans"/>
              </a:rPr>
              <a:t>Docker </a:t>
            </a:r>
            <a:r>
              <a:rPr lang="es-MX" sz="4000" b="1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Google Sans"/>
              </a:rPr>
              <a:t>Engine</a:t>
            </a:r>
            <a:r>
              <a:rPr lang="es-MX" sz="4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Google Sans"/>
              </a:rPr>
              <a:t> (Linux)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103B8D-7E4E-4450-905B-D7C007245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463463"/>
            <a:ext cx="10413848" cy="41711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600" dirty="0">
                <a:solidFill>
                  <a:schemeClr val="tx1"/>
                </a:solidFill>
                <a:latin typeface="Google Sans"/>
              </a:rPr>
              <a:t>En distribuciones Linux (Ubuntu, Debian, etc.) se instala directamente el Docker </a:t>
            </a:r>
            <a:r>
              <a:rPr lang="es-ES" sz="2600" dirty="0" err="1">
                <a:solidFill>
                  <a:schemeClr val="tx1"/>
                </a:solidFill>
                <a:latin typeface="Google Sans"/>
              </a:rPr>
              <a:t>Engine</a:t>
            </a:r>
            <a:r>
              <a:rPr lang="es-ES" sz="2600" dirty="0">
                <a:solidFill>
                  <a:schemeClr val="tx1"/>
                </a:solidFill>
                <a:latin typeface="Google Sans"/>
              </a:rPr>
              <a:t> sin necesidad de una capa de virtualización adicional, ya que el </a:t>
            </a:r>
            <a:r>
              <a:rPr lang="es-ES" sz="2600" dirty="0" err="1">
                <a:solidFill>
                  <a:schemeClr val="tx1"/>
                </a:solidFill>
                <a:latin typeface="Google Sans"/>
              </a:rPr>
              <a:t>kernel</a:t>
            </a:r>
            <a:r>
              <a:rPr lang="es-ES" sz="2600" dirty="0">
                <a:solidFill>
                  <a:schemeClr val="tx1"/>
                </a:solidFill>
                <a:latin typeface="Google Sans"/>
              </a:rPr>
              <a:t> Linux del host es compartido de forma nativa.).</a:t>
            </a:r>
            <a:endParaRPr lang="es-MX" sz="2600" dirty="0">
              <a:solidFill>
                <a:schemeClr val="tx1"/>
              </a:solidFill>
              <a:latin typeface="Google Sans"/>
            </a:endParaRPr>
          </a:p>
        </p:txBody>
      </p:sp>
      <p:pic>
        <p:nvPicPr>
          <p:cNvPr id="4" name="Picture 4" descr="TecNM | Campus Milpa Alta II">
            <a:extLst>
              <a:ext uri="{FF2B5EF4-FFF2-40B4-BE49-F238E27FC236}">
                <a16:creationId xmlns:a16="http://schemas.microsoft.com/office/drawing/2014/main" id="{DCF966EE-74C7-4E44-8703-94EBC6EC25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7475" y="5864410"/>
            <a:ext cx="954517" cy="910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9795954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E3E240-F19C-4A5F-969E-64411693E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sz="4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Google Sans"/>
              </a:rPr>
              <a:t>INSTALACION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103B8D-7E4E-4450-905B-D7C007245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1" y="1062318"/>
            <a:ext cx="10234801" cy="3576917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s-ES" sz="3200" dirty="0">
                <a:solidFill>
                  <a:schemeClr val="tx1"/>
                </a:solidFill>
                <a:latin typeface="Google Sans"/>
              </a:rPr>
              <a:t>Ejemplo en Ubuntu/Debian</a:t>
            </a:r>
          </a:p>
          <a:p>
            <a:pPr marL="457200" lvl="1" indent="0" algn="just">
              <a:buNone/>
            </a:pPr>
            <a:r>
              <a:rPr lang="es-ES" sz="3000" b="1" dirty="0">
                <a:solidFill>
                  <a:schemeClr val="tx2">
                    <a:lumMod val="75000"/>
                  </a:schemeClr>
                </a:solidFill>
                <a:latin typeface="Google Sans"/>
              </a:rPr>
              <a:t>sudo </a:t>
            </a:r>
            <a:r>
              <a:rPr lang="es-ES" sz="3000" b="1" dirty="0" err="1">
                <a:solidFill>
                  <a:schemeClr val="tx2">
                    <a:lumMod val="75000"/>
                  </a:schemeClr>
                </a:solidFill>
                <a:latin typeface="Google Sans"/>
              </a:rPr>
              <a:t>apt-get</a:t>
            </a:r>
            <a:r>
              <a:rPr lang="es-ES" sz="3000" b="1" dirty="0">
                <a:solidFill>
                  <a:schemeClr val="tx2">
                    <a:lumMod val="75000"/>
                  </a:schemeClr>
                </a:solidFill>
                <a:latin typeface="Google Sans"/>
              </a:rPr>
              <a:t> </a:t>
            </a:r>
            <a:r>
              <a:rPr lang="es-ES" sz="3000" b="1" dirty="0" err="1">
                <a:solidFill>
                  <a:schemeClr val="tx2">
                    <a:lumMod val="75000"/>
                  </a:schemeClr>
                </a:solidFill>
                <a:latin typeface="Google Sans"/>
              </a:rPr>
              <a:t>update</a:t>
            </a:r>
            <a:endParaRPr lang="es-ES" sz="3000" b="1" dirty="0">
              <a:solidFill>
                <a:schemeClr val="tx2">
                  <a:lumMod val="75000"/>
                </a:schemeClr>
              </a:solidFill>
              <a:latin typeface="Google Sans"/>
            </a:endParaRPr>
          </a:p>
          <a:p>
            <a:pPr marL="457200" lvl="1" indent="0" algn="just">
              <a:buNone/>
            </a:pPr>
            <a:r>
              <a:rPr lang="es-ES" sz="3000" b="1" dirty="0">
                <a:solidFill>
                  <a:schemeClr val="tx2">
                    <a:lumMod val="75000"/>
                  </a:schemeClr>
                </a:solidFill>
                <a:latin typeface="Google Sans"/>
              </a:rPr>
              <a:t>sudo </a:t>
            </a:r>
            <a:r>
              <a:rPr lang="es-ES" sz="3000" b="1" dirty="0" err="1">
                <a:solidFill>
                  <a:schemeClr val="tx2">
                    <a:lumMod val="75000"/>
                  </a:schemeClr>
                </a:solidFill>
                <a:latin typeface="Google Sans"/>
              </a:rPr>
              <a:t>apt-get</a:t>
            </a:r>
            <a:r>
              <a:rPr lang="es-ES" sz="3000" b="1" dirty="0">
                <a:solidFill>
                  <a:schemeClr val="tx2">
                    <a:lumMod val="75000"/>
                  </a:schemeClr>
                </a:solidFill>
                <a:latin typeface="Google Sans"/>
              </a:rPr>
              <a:t> </a:t>
            </a:r>
            <a:r>
              <a:rPr lang="es-ES" sz="3000" b="1" dirty="0" err="1">
                <a:solidFill>
                  <a:schemeClr val="tx2">
                    <a:lumMod val="75000"/>
                  </a:schemeClr>
                </a:solidFill>
                <a:latin typeface="Google Sans"/>
              </a:rPr>
              <a:t>install</a:t>
            </a:r>
            <a:r>
              <a:rPr lang="es-ES" sz="3000" b="1" dirty="0">
                <a:solidFill>
                  <a:schemeClr val="tx2">
                    <a:lumMod val="75000"/>
                  </a:schemeClr>
                </a:solidFill>
                <a:latin typeface="Google Sans"/>
              </a:rPr>
              <a:t> ca-</a:t>
            </a:r>
            <a:r>
              <a:rPr lang="es-ES" sz="3000" b="1" dirty="0" err="1">
                <a:solidFill>
                  <a:schemeClr val="tx2">
                    <a:lumMod val="75000"/>
                  </a:schemeClr>
                </a:solidFill>
                <a:latin typeface="Google Sans"/>
              </a:rPr>
              <a:t>certificates</a:t>
            </a:r>
            <a:r>
              <a:rPr lang="es-ES" sz="3000" b="1" dirty="0">
                <a:solidFill>
                  <a:schemeClr val="tx2">
                    <a:lumMod val="75000"/>
                  </a:schemeClr>
                </a:solidFill>
                <a:latin typeface="Google Sans"/>
              </a:rPr>
              <a:t> </a:t>
            </a:r>
            <a:r>
              <a:rPr lang="es-ES" sz="3000" b="1" dirty="0" err="1">
                <a:solidFill>
                  <a:schemeClr val="tx2">
                    <a:lumMod val="75000"/>
                  </a:schemeClr>
                </a:solidFill>
                <a:latin typeface="Google Sans"/>
              </a:rPr>
              <a:t>curl</a:t>
            </a:r>
            <a:r>
              <a:rPr lang="es-ES" sz="3000" b="1" dirty="0">
                <a:solidFill>
                  <a:schemeClr val="tx2">
                    <a:lumMod val="75000"/>
                  </a:schemeClr>
                </a:solidFill>
                <a:latin typeface="Google Sans"/>
              </a:rPr>
              <a:t> </a:t>
            </a:r>
            <a:r>
              <a:rPr lang="es-ES" sz="3000" b="1" dirty="0" err="1">
                <a:solidFill>
                  <a:schemeClr val="tx2">
                    <a:lumMod val="75000"/>
                  </a:schemeClr>
                </a:solidFill>
                <a:latin typeface="Google Sans"/>
              </a:rPr>
              <a:t>gnupg</a:t>
            </a:r>
            <a:endParaRPr lang="es-ES" sz="3000" b="1" dirty="0">
              <a:solidFill>
                <a:schemeClr val="tx2">
                  <a:lumMod val="75000"/>
                </a:schemeClr>
              </a:solidFill>
              <a:latin typeface="Google Sans"/>
            </a:endParaRPr>
          </a:p>
          <a:p>
            <a:pPr marL="457200" lvl="1" indent="0" algn="just">
              <a:buNone/>
            </a:pPr>
            <a:r>
              <a:rPr lang="es-ES" sz="3000" b="1" dirty="0" err="1">
                <a:solidFill>
                  <a:schemeClr val="tx2">
                    <a:lumMod val="75000"/>
                  </a:schemeClr>
                </a:solidFill>
                <a:latin typeface="Google Sans"/>
              </a:rPr>
              <a:t>curl</a:t>
            </a:r>
            <a:r>
              <a:rPr lang="es-ES" sz="3000" b="1" dirty="0">
                <a:solidFill>
                  <a:schemeClr val="tx2">
                    <a:lumMod val="75000"/>
                  </a:schemeClr>
                </a:solidFill>
                <a:latin typeface="Google Sans"/>
              </a:rPr>
              <a:t> -</a:t>
            </a:r>
            <a:r>
              <a:rPr lang="es-ES" sz="3000" b="1" dirty="0" err="1">
                <a:solidFill>
                  <a:schemeClr val="tx2">
                    <a:lumMod val="75000"/>
                  </a:schemeClr>
                </a:solidFill>
                <a:latin typeface="Google Sans"/>
              </a:rPr>
              <a:t>fsSL</a:t>
            </a:r>
            <a:r>
              <a:rPr lang="es-ES" sz="3000" b="1" dirty="0">
                <a:solidFill>
                  <a:schemeClr val="tx2">
                    <a:lumMod val="75000"/>
                  </a:schemeClr>
                </a:solidFill>
                <a:latin typeface="Google Sans"/>
              </a:rPr>
              <a:t> https://download.docker.com/linux/ubuntu/gpg | sudo </a:t>
            </a:r>
            <a:r>
              <a:rPr lang="es-ES" sz="3000" b="1" dirty="0" err="1">
                <a:solidFill>
                  <a:schemeClr val="tx2">
                    <a:lumMod val="75000"/>
                  </a:schemeClr>
                </a:solidFill>
                <a:latin typeface="Google Sans"/>
              </a:rPr>
              <a:t>gpg</a:t>
            </a:r>
            <a:r>
              <a:rPr lang="es-ES" sz="3000" b="1" dirty="0">
                <a:solidFill>
                  <a:schemeClr val="tx2">
                    <a:lumMod val="75000"/>
                  </a:schemeClr>
                </a:solidFill>
                <a:latin typeface="Google Sans"/>
              </a:rPr>
              <a:t> --</a:t>
            </a:r>
            <a:r>
              <a:rPr lang="es-ES" sz="3000" b="1" dirty="0" err="1">
                <a:solidFill>
                  <a:schemeClr val="tx2">
                    <a:lumMod val="75000"/>
                  </a:schemeClr>
                </a:solidFill>
                <a:latin typeface="Google Sans"/>
              </a:rPr>
              <a:t>dearmor</a:t>
            </a:r>
            <a:r>
              <a:rPr lang="es-ES" sz="3000" b="1" dirty="0">
                <a:solidFill>
                  <a:schemeClr val="tx2">
                    <a:lumMod val="75000"/>
                  </a:schemeClr>
                </a:solidFill>
                <a:latin typeface="Google Sans"/>
              </a:rPr>
              <a:t> -o /</a:t>
            </a:r>
            <a:r>
              <a:rPr lang="es-ES" sz="3000" b="1" dirty="0" err="1">
                <a:solidFill>
                  <a:schemeClr val="tx2">
                    <a:lumMod val="75000"/>
                  </a:schemeClr>
                </a:solidFill>
                <a:latin typeface="Google Sans"/>
              </a:rPr>
              <a:t>etc</a:t>
            </a:r>
            <a:r>
              <a:rPr lang="es-ES" sz="3000" b="1" dirty="0">
                <a:solidFill>
                  <a:schemeClr val="tx2">
                    <a:lumMod val="75000"/>
                  </a:schemeClr>
                </a:solidFill>
                <a:latin typeface="Google Sans"/>
              </a:rPr>
              <a:t>/</a:t>
            </a:r>
            <a:r>
              <a:rPr lang="es-ES" sz="3000" b="1" dirty="0" err="1">
                <a:solidFill>
                  <a:schemeClr val="tx2">
                    <a:lumMod val="75000"/>
                  </a:schemeClr>
                </a:solidFill>
                <a:latin typeface="Google Sans"/>
              </a:rPr>
              <a:t>apt</a:t>
            </a:r>
            <a:r>
              <a:rPr lang="es-ES" sz="3000" b="1" dirty="0">
                <a:solidFill>
                  <a:schemeClr val="tx2">
                    <a:lumMod val="75000"/>
                  </a:schemeClr>
                </a:solidFill>
                <a:latin typeface="Google Sans"/>
              </a:rPr>
              <a:t>/</a:t>
            </a:r>
            <a:r>
              <a:rPr lang="es-ES" sz="3000" b="1" dirty="0" err="1">
                <a:solidFill>
                  <a:schemeClr val="tx2">
                    <a:lumMod val="75000"/>
                  </a:schemeClr>
                </a:solidFill>
                <a:latin typeface="Google Sans"/>
              </a:rPr>
              <a:t>keyrings</a:t>
            </a:r>
            <a:r>
              <a:rPr lang="es-ES" sz="3000" b="1" dirty="0">
                <a:solidFill>
                  <a:schemeClr val="tx2">
                    <a:lumMod val="75000"/>
                  </a:schemeClr>
                </a:solidFill>
                <a:latin typeface="Google Sans"/>
              </a:rPr>
              <a:t>/</a:t>
            </a:r>
            <a:r>
              <a:rPr lang="es-ES" sz="3000" b="1" dirty="0" err="1">
                <a:solidFill>
                  <a:schemeClr val="tx2">
                    <a:lumMod val="75000"/>
                  </a:schemeClr>
                </a:solidFill>
                <a:latin typeface="Google Sans"/>
              </a:rPr>
              <a:t>docker.gpg</a:t>
            </a:r>
            <a:endParaRPr lang="es-ES" sz="3000" b="1" dirty="0">
              <a:solidFill>
                <a:schemeClr val="tx2">
                  <a:lumMod val="75000"/>
                </a:schemeClr>
              </a:solidFill>
              <a:latin typeface="Google Sans"/>
            </a:endParaRPr>
          </a:p>
          <a:p>
            <a:pPr marL="457200" lvl="1" indent="0" algn="just">
              <a:buNone/>
            </a:pPr>
            <a:r>
              <a:rPr lang="es-ES" sz="3000" b="1" dirty="0">
                <a:solidFill>
                  <a:schemeClr val="tx2">
                    <a:lumMod val="75000"/>
                  </a:schemeClr>
                </a:solidFill>
                <a:latin typeface="Google Sans"/>
              </a:rPr>
              <a:t>sudo </a:t>
            </a:r>
            <a:r>
              <a:rPr lang="es-ES" sz="3000" b="1" dirty="0" err="1">
                <a:solidFill>
                  <a:schemeClr val="tx2">
                    <a:lumMod val="75000"/>
                  </a:schemeClr>
                </a:solidFill>
                <a:latin typeface="Google Sans"/>
              </a:rPr>
              <a:t>apt-get</a:t>
            </a:r>
            <a:r>
              <a:rPr lang="es-ES" sz="3000" b="1" dirty="0">
                <a:solidFill>
                  <a:schemeClr val="tx2">
                    <a:lumMod val="75000"/>
                  </a:schemeClr>
                </a:solidFill>
                <a:latin typeface="Google Sans"/>
              </a:rPr>
              <a:t> </a:t>
            </a:r>
            <a:r>
              <a:rPr lang="es-ES" sz="3000" b="1" dirty="0" err="1">
                <a:solidFill>
                  <a:schemeClr val="tx2">
                    <a:lumMod val="75000"/>
                  </a:schemeClr>
                </a:solidFill>
                <a:latin typeface="Google Sans"/>
              </a:rPr>
              <a:t>install</a:t>
            </a:r>
            <a:r>
              <a:rPr lang="es-ES" sz="3000" b="1" dirty="0">
                <a:solidFill>
                  <a:schemeClr val="tx2">
                    <a:lumMod val="75000"/>
                  </a:schemeClr>
                </a:solidFill>
                <a:latin typeface="Google Sans"/>
              </a:rPr>
              <a:t> </a:t>
            </a:r>
            <a:r>
              <a:rPr lang="es-ES" sz="3000" b="1" dirty="0" err="1">
                <a:solidFill>
                  <a:schemeClr val="tx2">
                    <a:lumMod val="75000"/>
                  </a:schemeClr>
                </a:solidFill>
                <a:latin typeface="Google Sans"/>
              </a:rPr>
              <a:t>docker</a:t>
            </a:r>
            <a:r>
              <a:rPr lang="es-ES" sz="3000" b="1" dirty="0">
                <a:solidFill>
                  <a:schemeClr val="tx2">
                    <a:lumMod val="75000"/>
                  </a:schemeClr>
                </a:solidFill>
                <a:latin typeface="Google Sans"/>
              </a:rPr>
              <a:t>-ce </a:t>
            </a:r>
            <a:r>
              <a:rPr lang="es-ES" sz="3000" b="1" dirty="0" err="1">
                <a:solidFill>
                  <a:schemeClr val="tx2">
                    <a:lumMod val="75000"/>
                  </a:schemeClr>
                </a:solidFill>
                <a:latin typeface="Google Sans"/>
              </a:rPr>
              <a:t>docker</a:t>
            </a:r>
            <a:r>
              <a:rPr lang="es-ES" sz="3000" b="1" dirty="0">
                <a:solidFill>
                  <a:schemeClr val="tx2">
                    <a:lumMod val="75000"/>
                  </a:schemeClr>
                </a:solidFill>
                <a:latin typeface="Google Sans"/>
              </a:rPr>
              <a:t>-ce-</a:t>
            </a:r>
            <a:r>
              <a:rPr lang="es-ES" sz="3000" b="1" dirty="0" err="1">
                <a:solidFill>
                  <a:schemeClr val="tx2">
                    <a:lumMod val="75000"/>
                  </a:schemeClr>
                </a:solidFill>
                <a:latin typeface="Google Sans"/>
              </a:rPr>
              <a:t>cli</a:t>
            </a:r>
            <a:r>
              <a:rPr lang="es-ES" sz="3000" b="1" dirty="0">
                <a:solidFill>
                  <a:schemeClr val="tx2">
                    <a:lumMod val="75000"/>
                  </a:schemeClr>
                </a:solidFill>
                <a:latin typeface="Google Sans"/>
              </a:rPr>
              <a:t> containerd.io </a:t>
            </a:r>
            <a:r>
              <a:rPr lang="es-ES" sz="3000" b="1" dirty="0" err="1">
                <a:solidFill>
                  <a:schemeClr val="tx2">
                    <a:lumMod val="75000"/>
                  </a:schemeClr>
                </a:solidFill>
                <a:latin typeface="Google Sans"/>
              </a:rPr>
              <a:t>docker</a:t>
            </a:r>
            <a:r>
              <a:rPr lang="es-ES" sz="3000" b="1" dirty="0">
                <a:solidFill>
                  <a:schemeClr val="tx2">
                    <a:lumMod val="75000"/>
                  </a:schemeClr>
                </a:solidFill>
                <a:latin typeface="Google Sans"/>
              </a:rPr>
              <a:t>-</a:t>
            </a:r>
            <a:r>
              <a:rPr lang="es-ES" sz="3000" b="1" dirty="0" err="1">
                <a:solidFill>
                  <a:schemeClr val="tx2">
                    <a:lumMod val="75000"/>
                  </a:schemeClr>
                </a:solidFill>
                <a:latin typeface="Google Sans"/>
              </a:rPr>
              <a:t>compose</a:t>
            </a:r>
            <a:r>
              <a:rPr lang="es-ES" sz="3000" b="1" dirty="0">
                <a:solidFill>
                  <a:schemeClr val="tx2">
                    <a:lumMod val="75000"/>
                  </a:schemeClr>
                </a:solidFill>
                <a:latin typeface="Google Sans"/>
              </a:rPr>
              <a:t>-plugin</a:t>
            </a:r>
          </a:p>
          <a:p>
            <a:pPr marL="0" indent="0" algn="just">
              <a:buNone/>
            </a:pPr>
            <a:endParaRPr lang="es-ES" sz="3200" dirty="0">
              <a:solidFill>
                <a:schemeClr val="tx1"/>
              </a:solidFill>
              <a:latin typeface="Google Sans"/>
            </a:endParaRPr>
          </a:p>
        </p:txBody>
      </p:sp>
      <p:pic>
        <p:nvPicPr>
          <p:cNvPr id="4" name="Picture 4" descr="TecNM | Campus Milpa Alta II">
            <a:extLst>
              <a:ext uri="{FF2B5EF4-FFF2-40B4-BE49-F238E27FC236}">
                <a16:creationId xmlns:a16="http://schemas.microsoft.com/office/drawing/2014/main" id="{7A4DE1E0-554B-473D-B7FF-FD88C8B747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7475" y="5864410"/>
            <a:ext cx="954517" cy="910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6094637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8D60EF-0DBA-49EB-92F6-455C4FEA4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1685" y="1223682"/>
            <a:ext cx="8687467" cy="1546413"/>
          </a:xfrm>
        </p:spPr>
        <p:txBody>
          <a:bodyPr>
            <a:normAutofit/>
          </a:bodyPr>
          <a:lstStyle/>
          <a:p>
            <a:r>
              <a:rPr lang="es-MX" sz="5400" b="1" dirty="0">
                <a:solidFill>
                  <a:schemeClr val="tx2">
                    <a:lumMod val="50000"/>
                  </a:schemeClr>
                </a:solidFill>
                <a:latin typeface="Agency FB" panose="020B0503020202020204" pitchFamily="34" charset="0"/>
              </a:rPr>
              <a:t>Configuración</a:t>
            </a:r>
            <a:endParaRPr lang="es-MX" sz="5400" dirty="0">
              <a:solidFill>
                <a:schemeClr val="tx2">
                  <a:lumMod val="50000"/>
                </a:schemeClr>
              </a:solidFill>
            </a:endParaRPr>
          </a:p>
        </p:txBody>
      </p:sp>
      <p:pic>
        <p:nvPicPr>
          <p:cNvPr id="5122" name="Picture 2" descr="Qué es Docker y qué soluciones brinda? :: Sysarmy — El blog de quienes dan  soporte">
            <a:extLst>
              <a:ext uri="{FF2B5EF4-FFF2-40B4-BE49-F238E27FC236}">
                <a16:creationId xmlns:a16="http://schemas.microsoft.com/office/drawing/2014/main" id="{24D3D1F6-B770-4797-97D5-82FA3C8524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234" b="97756" l="2540" r="93333">
                        <a14:foregroundMark x1="11270" y1="83292" x2="7302" y2="84539"/>
                        <a14:foregroundMark x1="6508" y1="90274" x2="2857" y2="85786"/>
                        <a14:foregroundMark x1="30635" y1="96509" x2="41429" y2="96758"/>
                        <a14:foregroundMark x1="41429" y1="96758" x2="38889" y2="97756"/>
                        <a14:foregroundMark x1="87937" y1="39900" x2="93492" y2="38155"/>
                        <a14:foregroundMark x1="47302" y1="17706" x2="48730" y2="6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686" y="3065932"/>
            <a:ext cx="4035120" cy="25683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TecNM | Campus Milpa Alta II">
            <a:extLst>
              <a:ext uri="{FF2B5EF4-FFF2-40B4-BE49-F238E27FC236}">
                <a16:creationId xmlns:a16="http://schemas.microsoft.com/office/drawing/2014/main" id="{AD3EC325-882E-43B7-AB4B-19B76CC748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7475" y="5864410"/>
            <a:ext cx="954517" cy="910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5059191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E3E240-F19C-4A5F-969E-64411693E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sz="4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Google Sans"/>
              </a:rPr>
              <a:t>Configuración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103B8D-7E4E-4450-905B-D7C007245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1" y="863601"/>
            <a:ext cx="10194459" cy="3950446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es-ES" sz="3200" dirty="0">
                <a:solidFill>
                  <a:schemeClr val="tx1"/>
                </a:solidFill>
                <a:latin typeface="Google Sans"/>
              </a:rPr>
              <a:t>CPU y RAM: Docker Desktop permite limitar cuántos núcleos y memoria puede usar la VM interna (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Settings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 &gt; 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Resources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). En Linux, el 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Engine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 usa directamente los recursos del host, limitados por 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cgroups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 por contenedor.</a:t>
            </a:r>
          </a:p>
          <a:p>
            <a:pPr algn="just"/>
            <a:r>
              <a:rPr lang="es-ES" sz="3200" dirty="0">
                <a:solidFill>
                  <a:schemeClr val="tx1"/>
                </a:solidFill>
                <a:latin typeface="Google Sans"/>
              </a:rPr>
              <a:t>Almacenamiento: Docker Desktop define un disco virtual (.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vhdx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 en Windows, un contenedor de disco en macOS) cuyo tamaño máximo puede ajustarse.</a:t>
            </a:r>
          </a:p>
          <a:p>
            <a:pPr algn="just"/>
            <a:r>
              <a:rPr lang="es-ES" sz="3200" dirty="0">
                <a:solidFill>
                  <a:schemeClr val="tx1"/>
                </a:solidFill>
                <a:latin typeface="Google Sans"/>
              </a:rPr>
              <a:t>WSL2: puede configurarse mediante un archivo .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wslconfig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 en el perfil del usuario para limitar memoria, procesadores y swap de la distribución Linux subyacente.</a:t>
            </a:r>
          </a:p>
          <a:p>
            <a:pPr algn="just"/>
            <a:r>
              <a:rPr lang="es-ES" sz="3200" dirty="0">
                <a:solidFill>
                  <a:schemeClr val="tx1"/>
                </a:solidFill>
                <a:latin typeface="Google Sans"/>
              </a:rPr>
              <a:t>Docker Desktop: expone ajustes clave como habilitar 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Kubernetes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 integrado, exponer el 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daemon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 en TCP, o configurar 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proxies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 corporativos.</a:t>
            </a:r>
          </a:p>
        </p:txBody>
      </p:sp>
      <p:pic>
        <p:nvPicPr>
          <p:cNvPr id="4" name="Picture 4" descr="TecNM | Campus Milpa Alta II">
            <a:extLst>
              <a:ext uri="{FF2B5EF4-FFF2-40B4-BE49-F238E27FC236}">
                <a16:creationId xmlns:a16="http://schemas.microsoft.com/office/drawing/2014/main" id="{7216BF74-A3AC-4C90-9DC9-2475EF8267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7475" y="5864410"/>
            <a:ext cx="954517" cy="910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4405862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Sector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256</TotalTime>
  <Words>383</Words>
  <Application>Microsoft Office PowerPoint</Application>
  <PresentationFormat>Panorámica</PresentationFormat>
  <Paragraphs>28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Agency FB</vt:lpstr>
      <vt:lpstr>Century Gothic</vt:lpstr>
      <vt:lpstr>Google Sans</vt:lpstr>
      <vt:lpstr>Wingdings 3</vt:lpstr>
      <vt:lpstr>Sector</vt:lpstr>
      <vt:lpstr>Instalación y Gestión de Docker</vt:lpstr>
      <vt:lpstr>Docker Desktop (Windows y macOS)</vt:lpstr>
      <vt:lpstr>Windows + WSL2</vt:lpstr>
      <vt:lpstr>COMANDOS </vt:lpstr>
      <vt:lpstr>Docker Engine (Linux)</vt:lpstr>
      <vt:lpstr>INSTALACION</vt:lpstr>
      <vt:lpstr>Configuración</vt:lpstr>
      <vt:lpstr>Configuración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Características de Base de Datos NoSQL</dc:title>
  <dc:creator>Diego Sahashi</dc:creator>
  <cp:lastModifiedBy>Diego Sahashi</cp:lastModifiedBy>
  <cp:revision>48</cp:revision>
  <dcterms:created xsi:type="dcterms:W3CDTF">2025-01-29T05:05:03Z</dcterms:created>
  <dcterms:modified xsi:type="dcterms:W3CDTF">2026-08-18T08:33:15Z</dcterms:modified>
</cp:coreProperties>
</file>