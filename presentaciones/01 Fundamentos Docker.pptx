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9" r:id="rId3"/>
    <p:sldId id="258" r:id="rId4"/>
    <p:sldId id="259" r:id="rId5"/>
    <p:sldId id="261" r:id="rId6"/>
    <p:sldId id="262" r:id="rId7"/>
    <p:sldId id="284" r:id="rId8"/>
    <p:sldId id="276" r:id="rId9"/>
    <p:sldId id="263" r:id="rId10"/>
    <p:sldId id="277" r:id="rId11"/>
    <p:sldId id="278" r:id="rId12"/>
    <p:sldId id="285" r:id="rId13"/>
    <p:sldId id="279" r:id="rId14"/>
    <p:sldId id="286" r:id="rId15"/>
    <p:sldId id="266" r:id="rId16"/>
    <p:sldId id="280" r:id="rId17"/>
    <p:sldId id="265" r:id="rId18"/>
    <p:sldId id="287" r:id="rId19"/>
    <p:sldId id="288" r:id="rId20"/>
    <p:sldId id="26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60EF-0DBA-49EB-92F6-455C4FEA4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020" y="2219263"/>
            <a:ext cx="8203373" cy="1640540"/>
          </a:xfrm>
        </p:spPr>
        <p:txBody>
          <a:bodyPr>
            <a:normAutofit fontScale="90000"/>
          </a:bodyPr>
          <a:lstStyle/>
          <a:p>
            <a:pPr algn="ctr"/>
            <a:r>
              <a:rPr lang="es-MX" sz="73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CURSO Docker </a:t>
            </a:r>
            <a:br>
              <a:rPr lang="es-MX" sz="54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</a:br>
            <a:r>
              <a:rPr lang="es-MX" sz="31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Instructor</a:t>
            </a:r>
            <a:r>
              <a:rPr lang="es-MX" sz="36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: Ing. Diego Alberto bollas pares</a:t>
            </a:r>
            <a:endParaRPr lang="es-MX" sz="5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026" name="Picture 2" descr="Curso Profesional de Docker">
            <a:extLst>
              <a:ext uri="{FF2B5EF4-FFF2-40B4-BE49-F238E27FC236}">
                <a16:creationId xmlns:a16="http://schemas.microsoft.com/office/drawing/2014/main" id="{F478556C-2CA5-4AF8-B77E-B22E8C6BC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067" y="3699933"/>
            <a:ext cx="2658533" cy="26585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ecNM | Campus Milpa Alta II">
            <a:extLst>
              <a:ext uri="{FF2B5EF4-FFF2-40B4-BE49-F238E27FC236}">
                <a16:creationId xmlns:a16="http://schemas.microsoft.com/office/drawing/2014/main" id="{33C6695E-6784-435B-B346-FAC641445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30115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60EF-0DBA-49EB-92F6-455C4FEA4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686" y="1686593"/>
            <a:ext cx="8001000" cy="1083502"/>
          </a:xfrm>
        </p:spPr>
        <p:txBody>
          <a:bodyPr>
            <a:normAutofit/>
          </a:bodyPr>
          <a:lstStyle/>
          <a:p>
            <a:r>
              <a:rPr lang="es-MX" sz="54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Introducción a Docker</a:t>
            </a:r>
            <a:endParaRPr lang="es-MX" sz="5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026" name="Picture 2" descr="What is Docker and why it is used?">
            <a:extLst>
              <a:ext uri="{FF2B5EF4-FFF2-40B4-BE49-F238E27FC236}">
                <a16:creationId xmlns:a16="http://schemas.microsoft.com/office/drawing/2014/main" id="{8AE6752B-32E8-484C-814B-AAFA83908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270" y="3329942"/>
            <a:ext cx="3127469" cy="2586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223B651B-FDB1-48BC-A758-3B5053404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66972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E80EE-DA38-4DF0-A27B-BFDE802C1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¿Qué es Docker?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2A0D91-F11E-42F2-BA22-787DCE366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014608"/>
            <a:ext cx="10718894" cy="2414392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Docker es una plataforma de código abierto para desarrollar, empaquetar, distribuir y ejecutar aplicaciones dentro de contenedores: unidades ligeras y aisladas que incluyen todo lo necesario para que una aplicación funcione (código, dependencias, librerías y configuración), independientemente del entorno donde se ejecuten.</a:t>
            </a:r>
          </a:p>
        </p:txBody>
      </p:sp>
      <p:pic>
        <p:nvPicPr>
          <p:cNvPr id="2050" name="Picture 2" descr="The Role of Docker in Software Development">
            <a:extLst>
              <a:ext uri="{FF2B5EF4-FFF2-40B4-BE49-F238E27FC236}">
                <a16:creationId xmlns:a16="http://schemas.microsoft.com/office/drawing/2014/main" id="{CB025778-D3E8-4A68-BFA8-E324E7899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094" y="3429000"/>
            <a:ext cx="4948517" cy="27835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ecNM | Campus Milpa Alta II">
            <a:extLst>
              <a:ext uri="{FF2B5EF4-FFF2-40B4-BE49-F238E27FC236}">
                <a16:creationId xmlns:a16="http://schemas.microsoft.com/office/drawing/2014/main" id="{77715B62-497B-428B-88F4-11C061794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4319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Problemas que resuelve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0" y="977030"/>
            <a:ext cx="10490295" cy="319155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“En mi máquina sí funciona”: elimina inconsistencias entre entornos de desarrollo, pruebas y producción.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Gestión de dependencias: evita conflictos de versiones entre distintos proyectos que corren en el mismo host.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Tiempos de aprovisionamiento: levantar un entorno completo toma segundos en lugar de horas de instalación manual.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Portabilidad: una imagen construida una vez corre igual en un laptop, un servidor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on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-premise o la nube.</a:t>
            </a:r>
          </a:p>
        </p:txBody>
      </p:sp>
      <p:pic>
        <p:nvPicPr>
          <p:cNvPr id="3074" name="Picture 2" descr="Qué es Docker: Una Guía Completa">
            <a:extLst>
              <a:ext uri="{FF2B5EF4-FFF2-40B4-BE49-F238E27FC236}">
                <a16:creationId xmlns:a16="http://schemas.microsoft.com/office/drawing/2014/main" id="{DA124963-CC79-4C72-9A24-0CECEAB47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0670" y="4404906"/>
            <a:ext cx="3343835" cy="167191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ecNM | Campus Milpa Alta II">
            <a:extLst>
              <a:ext uri="{FF2B5EF4-FFF2-40B4-BE49-F238E27FC236}">
                <a16:creationId xmlns:a16="http://schemas.microsoft.com/office/drawing/2014/main" id="{DA1AF9D3-3909-408E-BBA5-13AAB3765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08306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Casos de uso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027134"/>
            <a:ext cx="10315482" cy="327393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Entornos de desarrollo reproducibles para equipos de trabajo.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Empaquetado y despliegue de microservicios.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Integración continua / entrega continua (CI/CD):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builds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y pruebas aisladas y reproducibles.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Migración de aplicaciones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legacy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hacia infraestructuras modernas.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Laboratorios de pruebas y entornos efímeros (bases de datos temporales).</a:t>
            </a:r>
          </a:p>
        </p:txBody>
      </p:sp>
      <p:pic>
        <p:nvPicPr>
          <p:cNvPr id="4098" name="Picture 2" descr="Docker. Las claves de los containers. - Departamentos de IT - ICM">
            <a:extLst>
              <a:ext uri="{FF2B5EF4-FFF2-40B4-BE49-F238E27FC236}">
                <a16:creationId xmlns:a16="http://schemas.microsoft.com/office/drawing/2014/main" id="{1BEC3DB0-C958-4086-9714-4CB940212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693" y="4272547"/>
            <a:ext cx="3441887" cy="193663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ecNM | Campus Milpa Alta II">
            <a:extLst>
              <a:ext uri="{FF2B5EF4-FFF2-40B4-BE49-F238E27FC236}">
                <a16:creationId xmlns:a16="http://schemas.microsoft.com/office/drawing/2014/main" id="{5545B5C1-7CAF-49E6-B5DC-14589562F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1046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Ventajas y desventajas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63463"/>
            <a:ext cx="10413848" cy="4171167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Ventajas 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→ </a:t>
            </a:r>
            <a:r>
              <a:rPr lang="es-ES" sz="2600" dirty="0">
                <a:solidFill>
                  <a:schemeClr val="tx1"/>
                </a:solidFill>
                <a:latin typeface="Google Sans"/>
              </a:rPr>
              <a:t>Aislamiento de dependencias, arranque en segundos, imágenes </a:t>
            </a:r>
            <a:r>
              <a:rPr lang="es-ES" sz="2600" dirty="0" err="1">
                <a:solidFill>
                  <a:schemeClr val="tx1"/>
                </a:solidFill>
                <a:latin typeface="Google Sans"/>
              </a:rPr>
              <a:t>versionables</a:t>
            </a:r>
            <a:r>
              <a:rPr lang="es-ES" sz="2600" dirty="0">
                <a:solidFill>
                  <a:schemeClr val="tx1"/>
                </a:solidFill>
                <a:latin typeface="Google Sans"/>
              </a:rPr>
              <a:t> y portables, menor consumo de recursos que una VM, ecosistema maduro (Hub, </a:t>
            </a:r>
            <a:r>
              <a:rPr lang="es-ES" sz="2600" dirty="0" err="1">
                <a:solidFill>
                  <a:schemeClr val="tx1"/>
                </a:solidFill>
                <a:latin typeface="Google Sans"/>
              </a:rPr>
              <a:t>Compose</a:t>
            </a:r>
            <a:r>
              <a:rPr lang="es-ES" sz="2600" dirty="0">
                <a:solidFill>
                  <a:schemeClr val="tx1"/>
                </a:solidFill>
                <a:latin typeface="Google Sans"/>
              </a:rPr>
              <a:t>, orquestadores).</a:t>
            </a:r>
          </a:p>
          <a:p>
            <a:r>
              <a:rPr lang="es-ES" sz="3200" dirty="0">
                <a:solidFill>
                  <a:schemeClr val="tx2">
                    <a:lumMod val="75000"/>
                  </a:schemeClr>
                </a:solidFill>
                <a:latin typeface="Google Sans"/>
              </a:rPr>
              <a:t>Desventajas 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→ </a:t>
            </a:r>
            <a:r>
              <a:rPr lang="es-ES" sz="2600" dirty="0">
                <a:solidFill>
                  <a:schemeClr val="tx1"/>
                </a:solidFill>
                <a:latin typeface="Google Sans"/>
              </a:rPr>
              <a:t>Comparte el </a:t>
            </a:r>
            <a:r>
              <a:rPr lang="es-ES" sz="2600" dirty="0" err="1">
                <a:solidFill>
                  <a:schemeClr val="tx1"/>
                </a:solidFill>
                <a:latin typeface="Google Sans"/>
              </a:rPr>
              <a:t>kernel</a:t>
            </a:r>
            <a:r>
              <a:rPr lang="es-ES" sz="2600" dirty="0">
                <a:solidFill>
                  <a:schemeClr val="tx1"/>
                </a:solidFill>
                <a:latin typeface="Google Sans"/>
              </a:rPr>
              <a:t> del host (no aísla tan fuerte como una VM), requiere disciplina para imágenes seguras y ligeras, curva de aprendizaje en redes/volúmenes, en Windows/macOS depende de una capa de virtualización (WSL2 / </a:t>
            </a:r>
            <a:r>
              <a:rPr lang="es-ES" sz="2600" dirty="0" err="1">
                <a:solidFill>
                  <a:schemeClr val="tx1"/>
                </a:solidFill>
                <a:latin typeface="Google Sans"/>
              </a:rPr>
              <a:t>Hyperkit</a:t>
            </a:r>
            <a:r>
              <a:rPr lang="es-ES" sz="2600" dirty="0">
                <a:solidFill>
                  <a:schemeClr val="tx1"/>
                </a:solidFill>
                <a:latin typeface="Google Sans"/>
              </a:rPr>
              <a:t>).</a:t>
            </a:r>
            <a:endParaRPr lang="es-MX" sz="2600" dirty="0">
              <a:solidFill>
                <a:schemeClr val="tx1"/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2685AF25-E3D6-4616-B591-18696B0AB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79595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60EF-0DBA-49EB-92F6-455C4FEA4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685" y="1223682"/>
            <a:ext cx="8687467" cy="1546413"/>
          </a:xfrm>
        </p:spPr>
        <p:txBody>
          <a:bodyPr>
            <a:normAutofit/>
          </a:bodyPr>
          <a:lstStyle/>
          <a:p>
            <a:r>
              <a:rPr lang="es-MX" sz="54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Contenedores</a:t>
            </a:r>
            <a:endParaRPr lang="es-MX" sz="5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5122" name="Picture 2" descr="Qué es Docker y qué soluciones brinda? :: Sysarmy — El blog de quienes dan  soporte">
            <a:extLst>
              <a:ext uri="{FF2B5EF4-FFF2-40B4-BE49-F238E27FC236}">
                <a16:creationId xmlns:a16="http://schemas.microsoft.com/office/drawing/2014/main" id="{24D3D1F6-B770-4797-97D5-82FA3C852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34" b="97756" l="2540" r="93333">
                        <a14:foregroundMark x1="11270" y1="83292" x2="7302" y2="84539"/>
                        <a14:foregroundMark x1="6508" y1="90274" x2="2857" y2="85786"/>
                        <a14:foregroundMark x1="30635" y1="96509" x2="41429" y2="96758"/>
                        <a14:foregroundMark x1="41429" y1="96758" x2="38889" y2="97756"/>
                        <a14:foregroundMark x1="87937" y1="39900" x2="93492" y2="38155"/>
                        <a14:foregroundMark x1="47302" y1="17706" x2="48730" y2="6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86" y="3065932"/>
            <a:ext cx="4035120" cy="25683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4519754E-9609-4001-A0CA-4C89ADC74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05919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¿Qué es un contenedor?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1277470"/>
            <a:ext cx="9912071" cy="285077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Un contenedor es una instancia en ejecución de una imagen: un proceso (o conjunto de procesos) que corre de forma aislada del sistema operativo anfitrión y de otros contenedores, utilizando funcionalidades del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kernel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de Linux como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namespaces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(espacios de nombres)  y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cgroups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(grupos de control).</a:t>
            </a:r>
            <a:endParaRPr lang="es-MX" sz="3200" dirty="0">
              <a:solidFill>
                <a:schemeClr val="tx1"/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DF7ABB68-80AA-4019-A2CB-62B859622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609463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Aislamiento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863601"/>
            <a:ext cx="10194459" cy="3437467"/>
          </a:xfrm>
        </p:spPr>
        <p:txBody>
          <a:bodyPr>
            <a:normAutofit/>
          </a:bodyPr>
          <a:lstStyle/>
          <a:p>
            <a:pPr algn="just"/>
            <a:r>
              <a:rPr lang="es-ES" sz="3200" dirty="0" err="1">
                <a:solidFill>
                  <a:schemeClr val="tx1"/>
                </a:solidFill>
                <a:latin typeface="Google Sans"/>
              </a:rPr>
              <a:t>Namespaces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aíslan lo que el contenedor puede ver (procesos, red, sistema de archivos,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hostname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usuarios).</a:t>
            </a:r>
          </a:p>
          <a:p>
            <a:pPr algn="just"/>
            <a:r>
              <a:rPr lang="es-ES" sz="3200" dirty="0" err="1">
                <a:solidFill>
                  <a:schemeClr val="tx1"/>
                </a:solidFill>
                <a:latin typeface="Google Sans"/>
              </a:rPr>
              <a:t>Cgroups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limitan y contabilizan los recursos que un contenedor puede consumir (CPU, memoria, E/S).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El contenedor comparte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kernel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del host, pero tiene su propio sistema de archivos, red y espacio de procesos.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64E4DE3F-074B-47F2-A332-69741809A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40586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Portabilidad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863601"/>
            <a:ext cx="10382717" cy="34374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Una imagen Docker incluye todo lo necesario para ejecutar la aplicación. Al construirse una sola vez y ejecutarse igual en cualquier motor Docker compatible, se garantiza consistencia entre entornos de desarrollo, pruebas y producción.</a:t>
            </a:r>
            <a:endParaRPr lang="es-MX" sz="3200" dirty="0">
              <a:solidFill>
                <a:schemeClr val="tx1"/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10268AB9-AF67-4DC6-8712-80487AAEB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85137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Ciclo de vida de un contenedor</a:t>
            </a:r>
            <a:endParaRPr lang="es-MX" sz="4000" b="1" dirty="0">
              <a:solidFill>
                <a:schemeClr val="bg2">
                  <a:lumMod val="60000"/>
                  <a:lumOff val="40000"/>
                </a:schemeClr>
              </a:solidFill>
              <a:latin typeface="Google San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400125D-189F-4D9C-9BE7-5B6F2BBA4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863602"/>
            <a:ext cx="10194459" cy="3466352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Un contenedor transita por varios estados durante su existencia:</a:t>
            </a:r>
          </a:p>
          <a:p>
            <a:pPr algn="just"/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Created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el contenedor fue creado a partir de una imagen pero aún no inicia.</a:t>
            </a:r>
          </a:p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Running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el proceso principal del contenedor está en ejecución.</a:t>
            </a:r>
          </a:p>
          <a:p>
            <a:pPr algn="just"/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Paused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la ejecución de los procesos está congelada temporalmente.</a:t>
            </a:r>
          </a:p>
          <a:p>
            <a:pPr algn="just"/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Stopped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</a:t>
            </a:r>
            <a:r>
              <a:rPr lang="es-ES" sz="3200" b="1" dirty="0">
                <a:solidFill>
                  <a:schemeClr val="tx1"/>
                </a:solidFill>
                <a:latin typeface="Google Sans"/>
              </a:rPr>
              <a:t>/ </a:t>
            </a:r>
            <a:r>
              <a:rPr lang="es-ES" sz="3200" b="1" dirty="0" err="1">
                <a:solidFill>
                  <a:schemeClr val="tx1"/>
                </a:solidFill>
                <a:latin typeface="Google Sans"/>
              </a:rPr>
              <a:t>Exited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el proceso principal terminó (por error, señal o finalización normal).</a:t>
            </a:r>
          </a:p>
          <a:p>
            <a:pPr algn="just"/>
            <a:r>
              <a:rPr lang="es-ES" sz="3200" b="1" dirty="0">
                <a:solidFill>
                  <a:schemeClr val="tx1"/>
                </a:solidFill>
                <a:latin typeface="Google Sans"/>
              </a:rPr>
              <a:t>Removed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el contenedor y su capa de escritura fueron eliminados del sistema.</a:t>
            </a:r>
          </a:p>
        </p:txBody>
      </p:sp>
      <p:pic>
        <p:nvPicPr>
          <p:cNvPr id="5" name="Picture 4" descr="TecNM | Campus Milpa Alta II">
            <a:extLst>
              <a:ext uri="{FF2B5EF4-FFF2-40B4-BE49-F238E27FC236}">
                <a16:creationId xmlns:a16="http://schemas.microsoft.com/office/drawing/2014/main" id="{404C4971-9A6F-4D81-9BBA-88DD50F0B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08760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60EF-0DBA-49EB-92F6-455C4FEA4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685" y="1223682"/>
            <a:ext cx="8687467" cy="1546413"/>
          </a:xfrm>
        </p:spPr>
        <p:txBody>
          <a:bodyPr>
            <a:normAutofit fontScale="90000"/>
          </a:bodyPr>
          <a:lstStyle/>
          <a:p>
            <a:r>
              <a:rPr lang="es-MX" sz="54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Contenedores vs. máquinas virtuales</a:t>
            </a:r>
            <a:endParaRPr lang="es-MX" sz="5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6146" name="Picture 2" descr="Docker vs. máquinas virtuales: diferencias clave - afterware.es">
            <a:extLst>
              <a:ext uri="{FF2B5EF4-FFF2-40B4-BE49-F238E27FC236}">
                <a16:creationId xmlns:a16="http://schemas.microsoft.com/office/drawing/2014/main" id="{0437B694-AE9E-407E-8216-8F110F24F0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9" b="12941"/>
          <a:stretch/>
        </p:blipFill>
        <p:spPr bwMode="auto">
          <a:xfrm>
            <a:off x="1442269" y="2918011"/>
            <a:ext cx="3954483" cy="298524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80E1D37D-64BC-40BE-B43A-ADFE68B28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55423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Hipervisores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863601"/>
            <a:ext cx="10248247" cy="3437467"/>
          </a:xfrm>
        </p:spPr>
        <p:txBody>
          <a:bodyPr>
            <a:normAutofit lnSpcReduction="10000"/>
          </a:bodyPr>
          <a:lstStyle/>
          <a:p>
            <a:r>
              <a:rPr lang="es-ES" sz="3200" dirty="0">
                <a:solidFill>
                  <a:schemeClr val="tx1"/>
                </a:solidFill>
                <a:latin typeface="Google Sans"/>
              </a:rPr>
              <a:t>Una máquina virtual utiliza un hipervisor (tipo 1, como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ESXi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/KVM, o tipo 2, como VirtualBox) para emular hardware completo y ejecutar un sistema operativo invitado independiente. </a:t>
            </a:r>
          </a:p>
          <a:p>
            <a:r>
              <a:rPr lang="es-ES" sz="3200" dirty="0">
                <a:solidFill>
                  <a:schemeClr val="tx1"/>
                </a:solidFill>
                <a:latin typeface="Google Sans"/>
              </a:rPr>
              <a:t>Un contenedor, no emula hardware ni incluye un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kernel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propio: se ejecuta como un proceso aislado sobre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kernel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del host, orquestado por el Docker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Engine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.</a:t>
            </a:r>
            <a:endParaRPr lang="es-MX" sz="3200" dirty="0">
              <a:solidFill>
                <a:schemeClr val="tx1"/>
              </a:solidFill>
              <a:latin typeface="Google Sans"/>
            </a:endParaRP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E1BC3729-EA84-4EF8-B09C-61CF6B8AC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623727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ocker vs VM: Hypervisor vs Docker FAQs Answered">
            <a:extLst>
              <a:ext uri="{FF2B5EF4-FFF2-40B4-BE49-F238E27FC236}">
                <a16:creationId xmlns:a16="http://schemas.microsoft.com/office/drawing/2014/main" id="{B87AA34D-CF24-4A22-B8D2-AAE84A5CA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11" y="1629831"/>
            <a:ext cx="9552645" cy="3184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TecNM | Campus Milpa Alta II">
            <a:extLst>
              <a:ext uri="{FF2B5EF4-FFF2-40B4-BE49-F238E27FC236}">
                <a16:creationId xmlns:a16="http://schemas.microsoft.com/office/drawing/2014/main" id="{E19C984E-3B16-41EC-9526-47ED8312E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63955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4487332"/>
            <a:ext cx="9051459" cy="1507067"/>
          </a:xfrm>
        </p:spPr>
        <p:txBody>
          <a:bodyPr/>
          <a:lstStyle/>
          <a:p>
            <a:r>
              <a:rPr lang="es-ES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Consumo de recursos, tiempo de arranque y portabilidad</a:t>
            </a:r>
            <a:endParaRPr lang="es-MX" sz="4000" b="1" dirty="0">
              <a:solidFill>
                <a:schemeClr val="bg2">
                  <a:lumMod val="60000"/>
                  <a:lumOff val="40000"/>
                </a:schemeClr>
              </a:solidFill>
              <a:latin typeface="Google Sans"/>
            </a:endParaRP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4D98669C-7BA9-4751-8821-9AAAA3358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0" y="569087"/>
            <a:ext cx="9804495" cy="4115178"/>
          </a:xfrm>
          <a:prstGeom prst="rect">
            <a:avLst/>
          </a:prstGeom>
        </p:spPr>
      </p:pic>
      <p:pic>
        <p:nvPicPr>
          <p:cNvPr id="5" name="Picture 4" descr="TecNM | Campus Milpa Alta II">
            <a:extLst>
              <a:ext uri="{FF2B5EF4-FFF2-40B4-BE49-F238E27FC236}">
                <a16:creationId xmlns:a16="http://schemas.microsoft.com/office/drawing/2014/main" id="{5B141785-8DB7-4202-8203-1F6F15C7F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13581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60EF-0DBA-49EB-92F6-455C4FEA4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686" y="1700039"/>
            <a:ext cx="8001000" cy="989373"/>
          </a:xfrm>
        </p:spPr>
        <p:txBody>
          <a:bodyPr>
            <a:normAutofit/>
          </a:bodyPr>
          <a:lstStyle/>
          <a:p>
            <a:r>
              <a:rPr lang="es-MX" sz="54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Arquitectura de Docker</a:t>
            </a:r>
            <a:endParaRPr lang="es-MX" sz="5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5" name="Picture 4" descr="Day 16: Docker for DevOps Engineers.">
            <a:extLst>
              <a:ext uri="{FF2B5EF4-FFF2-40B4-BE49-F238E27FC236}">
                <a16:creationId xmlns:a16="http://schemas.microsoft.com/office/drawing/2014/main" id="{04BF491E-9420-4A56-A55C-5D2074B995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18" b="-1"/>
          <a:stretch/>
        </p:blipFill>
        <p:spPr bwMode="auto">
          <a:xfrm>
            <a:off x="1310107" y="3065929"/>
            <a:ext cx="4929327" cy="249330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5959F97D-500B-4B28-94E4-8FF55207F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18484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Arquitectura de Docker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863601"/>
            <a:ext cx="9938964" cy="392355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ES" sz="3200" dirty="0">
                <a:solidFill>
                  <a:schemeClr val="tx1"/>
                </a:solidFill>
                <a:latin typeface="Google Sans"/>
              </a:rPr>
              <a:t>Docker sigue una arquitectura cliente-servidor compuesta por los siguientes componentes: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Docker Daemon (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dockerd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): proceso en segundo plano que gestiona objetos Docker (imágenes, contenedores, redes, volúmenes) y escucha peticiones de la API.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Docker CLI (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docker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): interfaz de línea de comandos que el usuario utiliza para enviar instrucciones al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daemon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 a través de la API REST.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913EE291-22C3-490C-9ACE-C4CD3AA2F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687743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Arquitectura de Docker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03B8D-7E4E-4450-905B-D7C007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863601"/>
            <a:ext cx="9938964" cy="3623731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Docker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Engine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el conjunto formado por el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daemon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la API REST y el CLI; es el motor que hace posible construir y ejecutar contenedores.</a:t>
            </a:r>
          </a:p>
          <a:p>
            <a:pPr algn="just"/>
            <a:r>
              <a:rPr lang="es-ES" sz="3200" dirty="0">
                <a:solidFill>
                  <a:schemeClr val="tx1"/>
                </a:solidFill>
                <a:latin typeface="Google Sans"/>
              </a:rPr>
              <a:t>Docker Desktop: aplicación de escritorio (Windows/macOS) que empaqueta el Docker </a:t>
            </a:r>
            <a:r>
              <a:rPr lang="es-ES" sz="3200" dirty="0" err="1">
                <a:solidFill>
                  <a:schemeClr val="tx1"/>
                </a:solidFill>
                <a:latin typeface="Google Sans"/>
              </a:rPr>
              <a:t>Engine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, una VM ligera (en Windows sobre WSL2), el CLI y herramientas gráficas complementarias.</a:t>
            </a:r>
          </a:p>
          <a:p>
            <a:pPr algn="just"/>
            <a:r>
              <a:rPr lang="es-ES" sz="3200" dirty="0" err="1">
                <a:solidFill>
                  <a:schemeClr val="tx1"/>
                </a:solidFill>
                <a:latin typeface="Google Sans"/>
              </a:rPr>
              <a:t>Registry</a:t>
            </a:r>
            <a:r>
              <a:rPr lang="es-ES" sz="3200" dirty="0">
                <a:solidFill>
                  <a:schemeClr val="tx1"/>
                </a:solidFill>
                <a:latin typeface="Google Sans"/>
              </a:rPr>
              <a:t>: servidor de almacenamiento y distribución de imágenes (por ejemplo Docker Hub, o un registro privado).</a:t>
            </a:r>
          </a:p>
        </p:txBody>
      </p:sp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0565AA5A-CDEE-4649-A5F8-8A2E381F9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03278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60EF-0DBA-49EB-92F6-455C4FEA4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686" y="1700039"/>
            <a:ext cx="8001000" cy="989373"/>
          </a:xfrm>
        </p:spPr>
        <p:txBody>
          <a:bodyPr>
            <a:normAutofit/>
          </a:bodyPr>
          <a:lstStyle/>
          <a:p>
            <a:r>
              <a:rPr lang="es-MX" sz="5400" b="1" dirty="0">
                <a:solidFill>
                  <a:schemeClr val="tx2">
                    <a:lumMod val="50000"/>
                  </a:schemeClr>
                </a:solidFill>
                <a:latin typeface="Agency FB" panose="020B0503020202020204" pitchFamily="34" charset="0"/>
              </a:rPr>
              <a:t>Conceptos fundamentales</a:t>
            </a:r>
            <a:endParaRPr lang="es-MX" sz="5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6" name="Picture 2" descr="Ejecutando una aplicación web en docker | Pledin">
            <a:extLst>
              <a:ext uri="{FF2B5EF4-FFF2-40B4-BE49-F238E27FC236}">
                <a16:creationId xmlns:a16="http://schemas.microsoft.com/office/drawing/2014/main" id="{B445173E-6BF6-4D75-B917-A4534C666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274" y="2840184"/>
            <a:ext cx="4736726" cy="29823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158EA97C-2C96-4A9C-8BAD-E43AD8BB1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59993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E240-F19C-4A5F-969E-64411693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Google Sans"/>
              </a:rPr>
              <a:t>Conceptos fundamentales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FD292B-A9C6-489E-96AD-5548AF077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95" y="1128399"/>
            <a:ext cx="9125181" cy="3455849"/>
          </a:xfrm>
          <a:prstGeom prst="rect">
            <a:avLst/>
          </a:prstGeom>
        </p:spPr>
      </p:pic>
      <p:pic>
        <p:nvPicPr>
          <p:cNvPr id="4" name="Picture 4" descr="TecNM | Campus Milpa Alta II">
            <a:extLst>
              <a:ext uri="{FF2B5EF4-FFF2-40B4-BE49-F238E27FC236}">
                <a16:creationId xmlns:a16="http://schemas.microsoft.com/office/drawing/2014/main" id="{4F2F541D-6860-45DB-9A30-0D2421C67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053" y="5808133"/>
            <a:ext cx="954517" cy="91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37945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233</TotalTime>
  <Words>772</Words>
  <Application>Microsoft Office PowerPoint</Application>
  <PresentationFormat>Panorámica</PresentationFormat>
  <Paragraphs>50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Agency FB</vt:lpstr>
      <vt:lpstr>Arial</vt:lpstr>
      <vt:lpstr>Century Gothic</vt:lpstr>
      <vt:lpstr>Google Sans</vt:lpstr>
      <vt:lpstr>Wingdings 3</vt:lpstr>
      <vt:lpstr>Sector</vt:lpstr>
      <vt:lpstr>CURSO Docker  Instructor: Ing. Diego Alberto bollas pares</vt:lpstr>
      <vt:lpstr>Introducción a Docker</vt:lpstr>
      <vt:lpstr>¿Qué es Docker?</vt:lpstr>
      <vt:lpstr>Problemas que resuelve</vt:lpstr>
      <vt:lpstr>Casos de uso</vt:lpstr>
      <vt:lpstr>Ventajas y desventajas</vt:lpstr>
      <vt:lpstr>Contenedores</vt:lpstr>
      <vt:lpstr>¿Qué es un contenedor?</vt:lpstr>
      <vt:lpstr>Aislamiento</vt:lpstr>
      <vt:lpstr>Portabilidad</vt:lpstr>
      <vt:lpstr>Ciclo de vida de un contenedor</vt:lpstr>
      <vt:lpstr>Contenedores vs. máquinas virtuales</vt:lpstr>
      <vt:lpstr>Hipervisores</vt:lpstr>
      <vt:lpstr>Presentación de PowerPoint</vt:lpstr>
      <vt:lpstr>Consumo de recursos, tiempo de arranque y portabilidad</vt:lpstr>
      <vt:lpstr>Arquitectura de Docker</vt:lpstr>
      <vt:lpstr>Arquitectura de Docker</vt:lpstr>
      <vt:lpstr>Arquitectura de Docker</vt:lpstr>
      <vt:lpstr>Conceptos fundamentales</vt:lpstr>
      <vt:lpstr>Conceptos fundamentales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Características de Base de Datos NoSQL</dc:title>
  <dc:creator>Diego Sahashi</dc:creator>
  <cp:lastModifiedBy>Diego Sahashi</cp:lastModifiedBy>
  <cp:revision>44</cp:revision>
  <dcterms:created xsi:type="dcterms:W3CDTF">2025-01-29T05:05:03Z</dcterms:created>
  <dcterms:modified xsi:type="dcterms:W3CDTF">2026-08-18T08:32:23Z</dcterms:modified>
</cp:coreProperties>
</file>