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9" r:id="rId2"/>
    <p:sldId id="258" r:id="rId3"/>
    <p:sldId id="259" r:id="rId4"/>
    <p:sldId id="261" r:id="rId5"/>
    <p:sldId id="262" r:id="rId6"/>
    <p:sldId id="284" r:id="rId7"/>
    <p:sldId id="263" r:id="rId8"/>
    <p:sldId id="290" r:id="rId9"/>
    <p:sldId id="293" r:id="rId10"/>
    <p:sldId id="291" r:id="rId11"/>
    <p:sldId id="292" r:id="rId12"/>
    <p:sldId id="294" r:id="rId13"/>
    <p:sldId id="295" r:id="rId14"/>
    <p:sldId id="296" r:id="rId15"/>
    <p:sldId id="297" r:id="rId16"/>
    <p:sldId id="29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p:cViewPr varScale="1">
        <p:scale>
          <a:sx n="113" d="100"/>
          <a:sy n="113" d="100"/>
        </p:scale>
        <p:origin x="45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8/18/2026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D60EF-0DBA-49EB-92F6-455C4FEA4CA1}"/>
              </a:ext>
            </a:extLst>
          </p:cNvPr>
          <p:cNvSpPr>
            <a:spLocks noGrp="1"/>
          </p:cNvSpPr>
          <p:nvPr>
            <p:ph type="ctrTitle"/>
          </p:nvPr>
        </p:nvSpPr>
        <p:spPr>
          <a:xfrm>
            <a:off x="671686" y="1686593"/>
            <a:ext cx="8001000" cy="1083502"/>
          </a:xfrm>
        </p:spPr>
        <p:txBody>
          <a:bodyPr>
            <a:normAutofit/>
          </a:bodyPr>
          <a:lstStyle/>
          <a:p>
            <a:r>
              <a:rPr lang="es-ES" sz="5400" b="1" dirty="0">
                <a:solidFill>
                  <a:schemeClr val="tx2">
                    <a:lumMod val="50000"/>
                  </a:schemeClr>
                </a:solidFill>
                <a:latin typeface="Agency FB" panose="020B0503020202020204" pitchFamily="34" charset="0"/>
              </a:rPr>
              <a:t>Imágenes, Volúmenes y Redes</a:t>
            </a:r>
            <a:endParaRPr lang="es-MX" sz="5400" dirty="0">
              <a:solidFill>
                <a:schemeClr val="tx2">
                  <a:lumMod val="50000"/>
                </a:schemeClr>
              </a:solidFill>
            </a:endParaRPr>
          </a:p>
        </p:txBody>
      </p:sp>
      <p:pic>
        <p:nvPicPr>
          <p:cNvPr id="1026" name="Picture 2" descr="What is Docker and why it is used?">
            <a:extLst>
              <a:ext uri="{FF2B5EF4-FFF2-40B4-BE49-F238E27FC236}">
                <a16:creationId xmlns:a16="http://schemas.microsoft.com/office/drawing/2014/main" id="{8AE6752B-32E8-484C-814B-AAFA83908C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3270" y="3329942"/>
            <a:ext cx="3127469" cy="258676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4" descr="TecNM | Campus Milpa Alta II">
            <a:extLst>
              <a:ext uri="{FF2B5EF4-FFF2-40B4-BE49-F238E27FC236}">
                <a16:creationId xmlns:a16="http://schemas.microsoft.com/office/drawing/2014/main" id="{90C03921-FD41-47D7-9FA7-5B7E28C070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669723"/>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FE80EE-DA38-4DF0-A27B-BFDE802C13F0}"/>
              </a:ext>
            </a:extLst>
          </p:cNvPr>
          <p:cNvSpPr>
            <a:spLocks noGrp="1"/>
          </p:cNvSpPr>
          <p:nvPr>
            <p:ph type="title"/>
          </p:nvPr>
        </p:nvSpPr>
        <p:spPr>
          <a:xfrm>
            <a:off x="1286934" y="1667932"/>
            <a:ext cx="5725055" cy="999068"/>
          </a:xfrm>
        </p:spPr>
        <p:txBody>
          <a:bodyPr/>
          <a:lstStyle/>
          <a:p>
            <a:pPr algn="ctr"/>
            <a:r>
              <a:rPr lang="es-MX" sz="4000" b="1" dirty="0">
                <a:solidFill>
                  <a:schemeClr val="bg2">
                    <a:lumMod val="60000"/>
                    <a:lumOff val="40000"/>
                  </a:schemeClr>
                </a:solidFill>
                <a:latin typeface="Google Sans"/>
              </a:rPr>
              <a:t>Imágenes</a:t>
            </a:r>
          </a:p>
        </p:txBody>
      </p:sp>
      <p:pic>
        <p:nvPicPr>
          <p:cNvPr id="1028" name="Picture 4" descr="What Are Docker Image Layers? | Packagecloud Blog">
            <a:extLst>
              <a:ext uri="{FF2B5EF4-FFF2-40B4-BE49-F238E27FC236}">
                <a16:creationId xmlns:a16="http://schemas.microsoft.com/office/drawing/2014/main" id="{0CF5146E-E338-44A7-8F04-2719952A37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6455" y="2733675"/>
            <a:ext cx="4926012" cy="27719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 name="Picture 4" descr="TecNM | Campus Milpa Alta II">
            <a:extLst>
              <a:ext uri="{FF2B5EF4-FFF2-40B4-BE49-F238E27FC236}">
                <a16:creationId xmlns:a16="http://schemas.microsoft.com/office/drawing/2014/main" id="{85F03EDB-4FB9-4B92-A9CC-B37EA23F00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4319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Capas (</a:t>
            </a:r>
            <a:r>
              <a:rPr lang="es-MX" sz="4000" b="1" dirty="0" err="1">
                <a:solidFill>
                  <a:schemeClr val="bg2">
                    <a:lumMod val="60000"/>
                    <a:lumOff val="40000"/>
                  </a:schemeClr>
                </a:solidFill>
                <a:latin typeface="Google Sans"/>
              </a:rPr>
              <a:t>layers</a:t>
            </a:r>
            <a:r>
              <a:rPr lang="es-MX" sz="4000" b="1" dirty="0">
                <a:solidFill>
                  <a:schemeClr val="bg2">
                    <a:lumMod val="60000"/>
                    <a:lumOff val="40000"/>
                  </a:schemeClr>
                </a:solidFill>
                <a:latin typeface="Google Sans"/>
              </a:rPr>
              <a:t>)</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0" y="977030"/>
            <a:ext cx="10490295" cy="3191558"/>
          </a:xfrm>
        </p:spPr>
        <p:txBody>
          <a:bodyPr>
            <a:normAutofit/>
          </a:bodyPr>
          <a:lstStyle/>
          <a:p>
            <a:pPr marL="0" indent="0" algn="just">
              <a:buNone/>
            </a:pPr>
            <a:r>
              <a:rPr lang="es-MX" sz="3200" dirty="0">
                <a:solidFill>
                  <a:schemeClr val="tx1"/>
                </a:solidFill>
                <a:latin typeface="Google Sans"/>
              </a:rPr>
              <a:t>Una imagen Docker se construye como una pila de capas de solo lectura, cada una representando un cambio incremental sobre la anterior (por ejemplo, instalar un paquete o copiar archivos). Docker reutiliza capas compartidas entre imágenes distintas, lo que ahorra espacio en disco y acelera las descargas.</a:t>
            </a:r>
            <a:endParaRPr lang="es-ES" sz="3200" dirty="0">
              <a:solidFill>
                <a:schemeClr val="tx1"/>
              </a:solidFill>
              <a:latin typeface="Google Sans"/>
            </a:endParaRPr>
          </a:p>
        </p:txBody>
      </p:sp>
      <p:pic>
        <p:nvPicPr>
          <p:cNvPr id="2050" name="Picture 2" descr="Restore/Rollback Layers from Docker Image | by Frank Chung | DeepQ Research  Engineering Blog | Medium">
            <a:extLst>
              <a:ext uri="{FF2B5EF4-FFF2-40B4-BE49-F238E27FC236}">
                <a16:creationId xmlns:a16="http://schemas.microsoft.com/office/drawing/2014/main" id="{1A3A3C3F-8499-4A30-9F07-725BA0D351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4118538"/>
            <a:ext cx="3332692" cy="187586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 name="Picture 4" descr="TecNM | Campus Milpa Alta II">
            <a:extLst>
              <a:ext uri="{FF2B5EF4-FFF2-40B4-BE49-F238E27FC236}">
                <a16:creationId xmlns:a16="http://schemas.microsoft.com/office/drawing/2014/main" id="{9FD0A4B0-4DCD-4EA1-BE98-726103FE05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608306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Tags y versiones	</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1027134"/>
            <a:ext cx="10315482" cy="3273934"/>
          </a:xfrm>
        </p:spPr>
        <p:txBody>
          <a:bodyPr>
            <a:normAutofit lnSpcReduction="10000"/>
          </a:bodyPr>
          <a:lstStyle/>
          <a:p>
            <a:pPr marL="0" indent="0" algn="just">
              <a:buNone/>
            </a:pPr>
            <a:r>
              <a:rPr lang="es-MX" sz="3200" dirty="0">
                <a:solidFill>
                  <a:schemeClr val="tx1"/>
                </a:solidFill>
                <a:latin typeface="Google Sans"/>
              </a:rPr>
              <a:t>Un tag identifica una versión específica de una imagen dentro de un repositorio, con el formato </a:t>
            </a:r>
            <a:r>
              <a:rPr lang="es-MX" sz="3200" dirty="0" err="1">
                <a:solidFill>
                  <a:schemeClr val="tx1"/>
                </a:solidFill>
                <a:latin typeface="Google Sans"/>
              </a:rPr>
              <a:t>repositorio:tag</a:t>
            </a:r>
            <a:r>
              <a:rPr lang="es-MX" sz="3200" dirty="0">
                <a:solidFill>
                  <a:schemeClr val="tx1"/>
                </a:solidFill>
                <a:latin typeface="Google Sans"/>
              </a:rPr>
              <a:t> (por ejemplo, nginx:1.25 o php:8.2-fpm). El tag </a:t>
            </a:r>
            <a:r>
              <a:rPr lang="es-MX" sz="3200" dirty="0" err="1">
                <a:solidFill>
                  <a:schemeClr val="tx1"/>
                </a:solidFill>
                <a:latin typeface="Google Sans"/>
              </a:rPr>
              <a:t>latest</a:t>
            </a:r>
            <a:r>
              <a:rPr lang="es-MX" sz="3200" dirty="0">
                <a:solidFill>
                  <a:schemeClr val="tx1"/>
                </a:solidFill>
                <a:latin typeface="Google Sans"/>
              </a:rPr>
              <a:t> no significa necesariamente 'la más reciente y estable'; es simplemente el tag por defecto si no se especifica otro, por lo que en entornos productivos se recomienda siempre fijar una versión explícita.</a:t>
            </a:r>
            <a:endParaRPr lang="es-ES" sz="3200" b="1" dirty="0">
              <a:solidFill>
                <a:schemeClr val="tx2">
                  <a:lumMod val="75000"/>
                </a:schemeClr>
              </a:solidFill>
              <a:latin typeface="Google Sans"/>
            </a:endParaRPr>
          </a:p>
        </p:txBody>
      </p:sp>
      <p:pic>
        <p:nvPicPr>
          <p:cNvPr id="4" name="Picture 4" descr="TecNM | Campus Milpa Alta II">
            <a:extLst>
              <a:ext uri="{FF2B5EF4-FFF2-40B4-BE49-F238E27FC236}">
                <a16:creationId xmlns:a16="http://schemas.microsoft.com/office/drawing/2014/main" id="{B34B1328-76BB-4C73-ACFC-EB524D638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41046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Comandos de gestión de imágenes</a:t>
            </a:r>
          </a:p>
        </p:txBody>
      </p:sp>
      <p:pic>
        <p:nvPicPr>
          <p:cNvPr id="6" name="Imagen 5">
            <a:extLst>
              <a:ext uri="{FF2B5EF4-FFF2-40B4-BE49-F238E27FC236}">
                <a16:creationId xmlns:a16="http://schemas.microsoft.com/office/drawing/2014/main" id="{C0D3993F-1C37-49DE-AB66-5FAAC9097F5C}"/>
              </a:ext>
            </a:extLst>
          </p:cNvPr>
          <p:cNvPicPr>
            <a:picLocks noChangeAspect="1"/>
          </p:cNvPicPr>
          <p:nvPr/>
        </p:nvPicPr>
        <p:blipFill>
          <a:blip r:embed="rId2"/>
          <a:stretch>
            <a:fillRect/>
          </a:stretch>
        </p:blipFill>
        <p:spPr>
          <a:xfrm>
            <a:off x="684211" y="1913411"/>
            <a:ext cx="9190827" cy="2573921"/>
          </a:xfrm>
          <a:prstGeom prst="rect">
            <a:avLst/>
          </a:prstGeom>
        </p:spPr>
      </p:pic>
      <p:pic>
        <p:nvPicPr>
          <p:cNvPr id="4" name="Picture 4" descr="TecNM | Campus Milpa Alta II">
            <a:extLst>
              <a:ext uri="{FF2B5EF4-FFF2-40B4-BE49-F238E27FC236}">
                <a16:creationId xmlns:a16="http://schemas.microsoft.com/office/drawing/2014/main" id="{03188436-3BC7-4CC1-9696-6114BF92C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79595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D60EF-0DBA-49EB-92F6-455C4FEA4CA1}"/>
              </a:ext>
            </a:extLst>
          </p:cNvPr>
          <p:cNvSpPr>
            <a:spLocks noGrp="1"/>
          </p:cNvSpPr>
          <p:nvPr>
            <p:ph type="ctrTitle"/>
          </p:nvPr>
        </p:nvSpPr>
        <p:spPr>
          <a:xfrm>
            <a:off x="1049867" y="1223682"/>
            <a:ext cx="8309285" cy="1546413"/>
          </a:xfrm>
        </p:spPr>
        <p:txBody>
          <a:bodyPr>
            <a:normAutofit/>
          </a:bodyPr>
          <a:lstStyle/>
          <a:p>
            <a:r>
              <a:rPr lang="es-MX" sz="5400" b="1" dirty="0">
                <a:solidFill>
                  <a:schemeClr val="tx2">
                    <a:lumMod val="50000"/>
                  </a:schemeClr>
                </a:solidFill>
                <a:latin typeface="Agency FB" panose="020B0503020202020204" pitchFamily="34" charset="0"/>
              </a:rPr>
              <a:t>Volúmenes</a:t>
            </a:r>
            <a:endParaRPr lang="es-MX" sz="5400" dirty="0">
              <a:solidFill>
                <a:schemeClr val="tx2">
                  <a:lumMod val="50000"/>
                </a:schemeClr>
              </a:solidFill>
            </a:endParaRPr>
          </a:p>
        </p:txBody>
      </p:sp>
      <p:pic>
        <p:nvPicPr>
          <p:cNvPr id="5122" name="Picture 2" descr="Qué es Docker y qué soluciones brinda? :: Sysarmy — El blog de quienes dan  soporte">
            <a:extLst>
              <a:ext uri="{FF2B5EF4-FFF2-40B4-BE49-F238E27FC236}">
                <a16:creationId xmlns:a16="http://schemas.microsoft.com/office/drawing/2014/main" id="{24D3D1F6-B770-4797-97D5-82FA3C8524D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6234" b="97756" l="2540" r="93333">
                        <a14:foregroundMark x1="11270" y1="83292" x2="7302" y2="84539"/>
                        <a14:foregroundMark x1="6508" y1="90274" x2="2857" y2="85786"/>
                        <a14:foregroundMark x1="30635" y1="96509" x2="41429" y2="96758"/>
                        <a14:foregroundMark x1="41429" y1="96758" x2="38889" y2="97756"/>
                        <a14:foregroundMark x1="87937" y1="39900" x2="93492" y2="38155"/>
                        <a14:foregroundMark x1="47302" y1="17706" x2="48730" y2="6234"/>
                      </a14:backgroundRemoval>
                    </a14:imgEffect>
                  </a14:imgLayer>
                </a14:imgProps>
              </a:ext>
              <a:ext uri="{28A0092B-C50C-407E-A947-70E740481C1C}">
                <a14:useLocalDpi xmlns:a14="http://schemas.microsoft.com/office/drawing/2010/main" val="0"/>
              </a:ext>
            </a:extLst>
          </a:blip>
          <a:srcRect/>
          <a:stretch>
            <a:fillRect/>
          </a:stretch>
        </p:blipFill>
        <p:spPr bwMode="auto">
          <a:xfrm>
            <a:off x="671686" y="3065932"/>
            <a:ext cx="4035120" cy="2568386"/>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4" descr="TecNM | Campus Milpa Alta II">
            <a:extLst>
              <a:ext uri="{FF2B5EF4-FFF2-40B4-BE49-F238E27FC236}">
                <a16:creationId xmlns:a16="http://schemas.microsoft.com/office/drawing/2014/main" id="{DE117E77-EB03-4D2B-AC6B-E6E2CB9CB8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505919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Persistencia de datos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a:bodyPr>
          <a:lstStyle/>
          <a:p>
            <a:pPr marL="0" indent="0" algn="just">
              <a:buNone/>
            </a:pPr>
            <a:r>
              <a:rPr lang="es-MX" sz="3200" dirty="0">
                <a:solidFill>
                  <a:schemeClr val="tx1"/>
                </a:solidFill>
                <a:latin typeface="Google Sans"/>
              </a:rPr>
              <a:t>Los contenedores son efímeros: al eliminarse, su capa de escritura (y cualquier dato guardado en ella) se pierde. Para persistir datos más allá del ciclo de vida de un contenedor, Docker ofrece dos mecanismos principales: volúmenes y </a:t>
            </a:r>
            <a:r>
              <a:rPr lang="es-MX" sz="3200" dirty="0" err="1">
                <a:solidFill>
                  <a:schemeClr val="tx1"/>
                </a:solidFill>
                <a:latin typeface="Google Sans"/>
              </a:rPr>
              <a:t>bind</a:t>
            </a:r>
            <a:r>
              <a:rPr lang="es-MX" sz="3200" dirty="0">
                <a:solidFill>
                  <a:schemeClr val="tx1"/>
                </a:solidFill>
                <a:latin typeface="Google Sans"/>
              </a:rPr>
              <a:t> </a:t>
            </a:r>
            <a:r>
              <a:rPr lang="es-MX" sz="3200" dirty="0" err="1">
                <a:solidFill>
                  <a:schemeClr val="tx1"/>
                </a:solidFill>
                <a:latin typeface="Google Sans"/>
              </a:rPr>
              <a:t>mounts</a:t>
            </a:r>
            <a:r>
              <a:rPr lang="es-MX" sz="3200" dirty="0">
                <a:solidFill>
                  <a:schemeClr val="tx1"/>
                </a:solidFill>
                <a:latin typeface="Google Sans"/>
              </a:rPr>
              <a:t>.</a:t>
            </a:r>
            <a:endParaRPr lang="es-ES" sz="3200" dirty="0">
              <a:solidFill>
                <a:schemeClr val="tx1"/>
              </a:solidFill>
              <a:latin typeface="Google Sans"/>
            </a:endParaRPr>
          </a:p>
        </p:txBody>
      </p:sp>
      <p:pic>
        <p:nvPicPr>
          <p:cNvPr id="4" name="Picture 4" descr="TecNM | Campus Milpa Alta II">
            <a:extLst>
              <a:ext uri="{FF2B5EF4-FFF2-40B4-BE49-F238E27FC236}">
                <a16:creationId xmlns:a16="http://schemas.microsoft.com/office/drawing/2014/main" id="{5E92CF3D-A75E-4923-B56D-B4B47DDFFF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440586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Volúmenes Docker</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a:bodyPr>
          <a:lstStyle/>
          <a:p>
            <a:pPr marL="0" indent="0" algn="just">
              <a:buNone/>
            </a:pPr>
            <a:r>
              <a:rPr lang="es-MX" sz="3200" dirty="0">
                <a:solidFill>
                  <a:schemeClr val="tx1"/>
                </a:solidFill>
                <a:latin typeface="Google Sans"/>
              </a:rPr>
              <a:t>Son gestionados completamente por Docker y almacenados en una ubicación del host controlada por el propio motor (fuera del árbol de directorios del proyecto). Son la opción recomendada para persistir datos de bases de datos y otros datos generados por el contenedor.</a:t>
            </a:r>
            <a:endParaRPr lang="es-ES" sz="3200" dirty="0">
              <a:solidFill>
                <a:schemeClr val="tx1"/>
              </a:solidFill>
              <a:latin typeface="Google Sans"/>
            </a:endParaRPr>
          </a:p>
        </p:txBody>
      </p:sp>
      <p:pic>
        <p:nvPicPr>
          <p:cNvPr id="4" name="Picture 4" descr="TecNM | Campus Milpa Alta II">
            <a:extLst>
              <a:ext uri="{FF2B5EF4-FFF2-40B4-BE49-F238E27FC236}">
                <a16:creationId xmlns:a16="http://schemas.microsoft.com/office/drawing/2014/main" id="{22E2F291-858A-4036-8D6E-FD1DEE6F82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6124607"/>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Volúmenes Docker</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a:bodyPr>
          <a:lstStyle/>
          <a:p>
            <a:pPr marL="0" indent="0" algn="just">
              <a:buNone/>
            </a:pPr>
            <a:r>
              <a:rPr lang="es-MX" sz="3200" b="1" dirty="0" err="1">
                <a:solidFill>
                  <a:schemeClr val="tx2">
                    <a:lumMod val="75000"/>
                  </a:schemeClr>
                </a:solidFill>
                <a:latin typeface="Google Sans"/>
              </a:rPr>
              <a:t>docker</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volume</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create</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datos_mysql</a:t>
            </a:r>
            <a:endParaRPr lang="es-MX" sz="3200" b="1" dirty="0">
              <a:solidFill>
                <a:schemeClr val="tx2">
                  <a:lumMod val="75000"/>
                </a:schemeClr>
              </a:solidFill>
              <a:latin typeface="Google Sans"/>
            </a:endParaRPr>
          </a:p>
          <a:p>
            <a:pPr marL="0" indent="0" algn="just">
              <a:buNone/>
            </a:pPr>
            <a:r>
              <a:rPr lang="es-MX" sz="3200" b="1" dirty="0" err="1">
                <a:solidFill>
                  <a:schemeClr val="tx2">
                    <a:lumMod val="75000"/>
                  </a:schemeClr>
                </a:solidFill>
                <a:latin typeface="Google Sans"/>
              </a:rPr>
              <a:t>docker</a:t>
            </a:r>
            <a:r>
              <a:rPr lang="es-MX" sz="3200" b="1" dirty="0">
                <a:solidFill>
                  <a:schemeClr val="tx2">
                    <a:lumMod val="75000"/>
                  </a:schemeClr>
                </a:solidFill>
                <a:latin typeface="Google Sans"/>
              </a:rPr>
              <a:t> run -d --</a:t>
            </a:r>
            <a:r>
              <a:rPr lang="es-MX" sz="3200" b="1" dirty="0" err="1">
                <a:solidFill>
                  <a:schemeClr val="tx2">
                    <a:lumMod val="75000"/>
                  </a:schemeClr>
                </a:solidFill>
                <a:latin typeface="Google Sans"/>
              </a:rPr>
              <a:t>name</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db</a:t>
            </a:r>
            <a:r>
              <a:rPr lang="es-MX" sz="3200" b="1" dirty="0">
                <a:solidFill>
                  <a:schemeClr val="tx2">
                    <a:lumMod val="75000"/>
                  </a:schemeClr>
                </a:solidFill>
                <a:latin typeface="Google Sans"/>
              </a:rPr>
              <a:t> -v </a:t>
            </a:r>
            <a:r>
              <a:rPr lang="es-MX" sz="3200" b="1" dirty="0" err="1">
                <a:solidFill>
                  <a:schemeClr val="tx2">
                    <a:lumMod val="75000"/>
                  </a:schemeClr>
                </a:solidFill>
                <a:latin typeface="Google Sans"/>
              </a:rPr>
              <a:t>datos_mysql</a:t>
            </a:r>
            <a:r>
              <a:rPr lang="es-MX" sz="3200" b="1" dirty="0">
                <a:solidFill>
                  <a:schemeClr val="tx2">
                    <a:lumMod val="75000"/>
                  </a:schemeClr>
                </a:solidFill>
                <a:latin typeface="Google Sans"/>
              </a:rPr>
              <a:t>:/</a:t>
            </a:r>
            <a:r>
              <a:rPr lang="es-MX" sz="3200" b="1" dirty="0" err="1">
                <a:solidFill>
                  <a:schemeClr val="tx2">
                    <a:lumMod val="75000"/>
                  </a:schemeClr>
                </a:solidFill>
                <a:latin typeface="Google Sans"/>
              </a:rPr>
              <a:t>var</a:t>
            </a:r>
            <a:r>
              <a:rPr lang="es-MX" sz="3200" b="1" dirty="0">
                <a:solidFill>
                  <a:schemeClr val="tx2">
                    <a:lumMod val="75000"/>
                  </a:schemeClr>
                </a:solidFill>
                <a:latin typeface="Google Sans"/>
              </a:rPr>
              <a:t>/</a:t>
            </a:r>
            <a:r>
              <a:rPr lang="es-MX" sz="3200" b="1" dirty="0" err="1">
                <a:solidFill>
                  <a:schemeClr val="tx2">
                    <a:lumMod val="75000"/>
                  </a:schemeClr>
                </a:solidFill>
                <a:latin typeface="Google Sans"/>
              </a:rPr>
              <a:t>lib</a:t>
            </a:r>
            <a:r>
              <a:rPr lang="es-MX" sz="3200" b="1" dirty="0">
                <a:solidFill>
                  <a:schemeClr val="tx2">
                    <a:lumMod val="75000"/>
                  </a:schemeClr>
                </a:solidFill>
                <a:latin typeface="Google Sans"/>
              </a:rPr>
              <a:t>/</a:t>
            </a:r>
            <a:r>
              <a:rPr lang="es-MX" sz="3200" b="1" dirty="0" err="1">
                <a:solidFill>
                  <a:schemeClr val="tx2">
                    <a:lumMod val="75000"/>
                  </a:schemeClr>
                </a:solidFill>
                <a:latin typeface="Google Sans"/>
              </a:rPr>
              <a:t>mysql</a:t>
            </a:r>
            <a:r>
              <a:rPr lang="es-MX" sz="3200" b="1" dirty="0">
                <a:solidFill>
                  <a:schemeClr val="tx2">
                    <a:lumMod val="75000"/>
                  </a:schemeClr>
                </a:solidFill>
                <a:latin typeface="Google Sans"/>
              </a:rPr>
              <a:t> mysql:8</a:t>
            </a:r>
          </a:p>
          <a:p>
            <a:pPr marL="0" indent="0" algn="just">
              <a:buNone/>
            </a:pPr>
            <a:r>
              <a:rPr lang="es-MX" sz="3200" b="1" dirty="0" err="1">
                <a:solidFill>
                  <a:schemeClr val="tx2">
                    <a:lumMod val="75000"/>
                  </a:schemeClr>
                </a:solidFill>
                <a:latin typeface="Google Sans"/>
              </a:rPr>
              <a:t>docker</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volume</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ls</a:t>
            </a:r>
            <a:endParaRPr lang="es-MX" sz="3200" b="1" dirty="0">
              <a:solidFill>
                <a:schemeClr val="tx2">
                  <a:lumMod val="75000"/>
                </a:schemeClr>
              </a:solidFill>
              <a:latin typeface="Google Sans"/>
            </a:endParaRPr>
          </a:p>
          <a:p>
            <a:pPr marL="0" indent="0" algn="just">
              <a:buNone/>
            </a:pPr>
            <a:r>
              <a:rPr lang="es-MX" sz="3200" b="1" dirty="0" err="1">
                <a:solidFill>
                  <a:schemeClr val="tx2">
                    <a:lumMod val="75000"/>
                  </a:schemeClr>
                </a:solidFill>
                <a:latin typeface="Google Sans"/>
              </a:rPr>
              <a:t>docker</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volume</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inspect</a:t>
            </a:r>
            <a:r>
              <a:rPr lang="es-MX" sz="3200" b="1" dirty="0">
                <a:solidFill>
                  <a:schemeClr val="tx2">
                    <a:lumMod val="75000"/>
                  </a:schemeClr>
                </a:solidFill>
                <a:latin typeface="Google Sans"/>
              </a:rPr>
              <a:t> </a:t>
            </a:r>
            <a:r>
              <a:rPr lang="es-MX" sz="3200" b="1" dirty="0" err="1">
                <a:solidFill>
                  <a:schemeClr val="tx2">
                    <a:lumMod val="75000"/>
                  </a:schemeClr>
                </a:solidFill>
                <a:latin typeface="Google Sans"/>
              </a:rPr>
              <a:t>datos_mysql</a:t>
            </a:r>
            <a:endParaRPr lang="es-MX" sz="3200" b="1" dirty="0">
              <a:solidFill>
                <a:schemeClr val="tx2">
                  <a:lumMod val="75000"/>
                </a:schemeClr>
              </a:solidFill>
              <a:latin typeface="Google Sans"/>
            </a:endParaRPr>
          </a:p>
        </p:txBody>
      </p:sp>
      <p:pic>
        <p:nvPicPr>
          <p:cNvPr id="4" name="Picture 4" descr="TecNM | Campus Milpa Alta II">
            <a:extLst>
              <a:ext uri="{FF2B5EF4-FFF2-40B4-BE49-F238E27FC236}">
                <a16:creationId xmlns:a16="http://schemas.microsoft.com/office/drawing/2014/main" id="{85BAE845-A6E3-4757-86EC-7AAC55E94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34745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err="1">
                <a:solidFill>
                  <a:schemeClr val="bg2">
                    <a:lumMod val="60000"/>
                    <a:lumOff val="40000"/>
                  </a:schemeClr>
                </a:solidFill>
                <a:latin typeface="Google Sans"/>
              </a:rPr>
              <a:t>Bind</a:t>
            </a:r>
            <a:r>
              <a:rPr lang="es-MX" sz="4000" b="1" dirty="0">
                <a:solidFill>
                  <a:schemeClr val="bg2">
                    <a:lumMod val="60000"/>
                    <a:lumOff val="40000"/>
                  </a:schemeClr>
                </a:solidFill>
                <a:latin typeface="Google Sans"/>
              </a:rPr>
              <a:t> </a:t>
            </a:r>
            <a:r>
              <a:rPr lang="es-MX" sz="4000" b="1" dirty="0" err="1">
                <a:solidFill>
                  <a:schemeClr val="bg2">
                    <a:lumMod val="60000"/>
                    <a:lumOff val="40000"/>
                  </a:schemeClr>
                </a:solidFill>
                <a:latin typeface="Google Sans"/>
              </a:rPr>
              <a:t>mounts</a:t>
            </a:r>
            <a:endParaRPr lang="es-MX" sz="4000" b="1" dirty="0">
              <a:solidFill>
                <a:schemeClr val="bg2">
                  <a:lumMod val="60000"/>
                  <a:lumOff val="40000"/>
                </a:schemeClr>
              </a:solidFill>
              <a:latin typeface="Google Sans"/>
            </a:endParaRP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863601"/>
            <a:ext cx="10194459" cy="3950446"/>
          </a:xfrm>
        </p:spPr>
        <p:txBody>
          <a:bodyPr>
            <a:normAutofit fontScale="92500"/>
          </a:bodyPr>
          <a:lstStyle/>
          <a:p>
            <a:pPr marL="0" indent="0" algn="just">
              <a:buNone/>
            </a:pPr>
            <a:r>
              <a:rPr lang="es-MX" sz="3200" dirty="0">
                <a:solidFill>
                  <a:schemeClr val="tx1"/>
                </a:solidFill>
                <a:latin typeface="Google Sans"/>
              </a:rPr>
              <a:t>Vinculan directamente una ruta del sistema de archivos del host con una ruta dentro del contenedor. Son ideales para desarrollo (por ejemplo, montar el código fuente para que los cambios se reflejen sin reconstruir la imagen), pero dependen de la estructura del host, lo que los hace menos portables.</a:t>
            </a:r>
          </a:p>
          <a:p>
            <a:pPr marL="0" indent="0" algn="just">
              <a:buNone/>
            </a:pPr>
            <a:endParaRPr lang="es-MX" sz="3200" dirty="0">
              <a:solidFill>
                <a:schemeClr val="tx1"/>
              </a:solidFill>
              <a:latin typeface="Google Sans"/>
            </a:endParaRPr>
          </a:p>
          <a:p>
            <a:pPr marL="457200" lvl="1" indent="0" algn="just">
              <a:buNone/>
            </a:pPr>
            <a:r>
              <a:rPr lang="es-ES" sz="2600" b="1" dirty="0" err="1">
                <a:solidFill>
                  <a:schemeClr val="tx2">
                    <a:lumMod val="75000"/>
                  </a:schemeClr>
                </a:solidFill>
                <a:latin typeface="Google Sans"/>
              </a:rPr>
              <a:t>docker</a:t>
            </a:r>
            <a:r>
              <a:rPr lang="es-ES" sz="2600" b="1" dirty="0">
                <a:solidFill>
                  <a:schemeClr val="tx2">
                    <a:lumMod val="75000"/>
                  </a:schemeClr>
                </a:solidFill>
                <a:latin typeface="Google Sans"/>
              </a:rPr>
              <a:t> run -d --</a:t>
            </a:r>
            <a:r>
              <a:rPr lang="es-ES" sz="2600" b="1" dirty="0" err="1">
                <a:solidFill>
                  <a:schemeClr val="tx2">
                    <a:lumMod val="75000"/>
                  </a:schemeClr>
                </a:solidFill>
                <a:latin typeface="Google Sans"/>
              </a:rPr>
              <a:t>name</a:t>
            </a:r>
            <a:r>
              <a:rPr lang="es-ES" sz="2600" b="1" dirty="0">
                <a:solidFill>
                  <a:schemeClr val="tx2">
                    <a:lumMod val="75000"/>
                  </a:schemeClr>
                </a:solidFill>
                <a:latin typeface="Google Sans"/>
              </a:rPr>
              <a:t> app -v $(</a:t>
            </a:r>
            <a:r>
              <a:rPr lang="es-ES" sz="2600" b="1" dirty="0" err="1">
                <a:solidFill>
                  <a:schemeClr val="tx2">
                    <a:lumMod val="75000"/>
                  </a:schemeClr>
                </a:solidFill>
                <a:latin typeface="Google Sans"/>
              </a:rPr>
              <a:t>pwd</a:t>
            </a:r>
            <a:r>
              <a:rPr lang="es-ES" sz="2600" b="1" dirty="0">
                <a:solidFill>
                  <a:schemeClr val="tx2">
                    <a:lumMod val="75000"/>
                  </a:schemeClr>
                </a:solidFill>
                <a:latin typeface="Google Sans"/>
              </a:rPr>
              <a:t>)/</a:t>
            </a:r>
            <a:r>
              <a:rPr lang="es-ES" sz="2600" b="1" dirty="0" err="1">
                <a:solidFill>
                  <a:schemeClr val="tx2">
                    <a:lumMod val="75000"/>
                  </a:schemeClr>
                </a:solidFill>
                <a:latin typeface="Google Sans"/>
              </a:rPr>
              <a:t>src</a:t>
            </a:r>
            <a:r>
              <a:rPr lang="es-ES" sz="2600" b="1" dirty="0">
                <a:solidFill>
                  <a:schemeClr val="tx2">
                    <a:lumMod val="75000"/>
                  </a:schemeClr>
                </a:solidFill>
                <a:latin typeface="Google Sans"/>
              </a:rPr>
              <a:t>:/</a:t>
            </a:r>
            <a:r>
              <a:rPr lang="es-ES" sz="2600" b="1" dirty="0" err="1">
                <a:solidFill>
                  <a:schemeClr val="tx2">
                    <a:lumMod val="75000"/>
                  </a:schemeClr>
                </a:solidFill>
                <a:latin typeface="Google Sans"/>
              </a:rPr>
              <a:t>var</a:t>
            </a:r>
            <a:r>
              <a:rPr lang="es-ES" sz="2600" b="1" dirty="0">
                <a:solidFill>
                  <a:schemeClr val="tx2">
                    <a:lumMod val="75000"/>
                  </a:schemeClr>
                </a:solidFill>
                <a:latin typeface="Google Sans"/>
              </a:rPr>
              <a:t>/www/</a:t>
            </a:r>
            <a:r>
              <a:rPr lang="es-ES" sz="2600" b="1" dirty="0" err="1">
                <a:solidFill>
                  <a:schemeClr val="tx2">
                    <a:lumMod val="75000"/>
                  </a:schemeClr>
                </a:solidFill>
                <a:latin typeface="Google Sans"/>
              </a:rPr>
              <a:t>html</a:t>
            </a:r>
            <a:r>
              <a:rPr lang="es-ES" sz="2600" b="1" dirty="0">
                <a:solidFill>
                  <a:schemeClr val="tx2">
                    <a:lumMod val="75000"/>
                  </a:schemeClr>
                </a:solidFill>
                <a:latin typeface="Google Sans"/>
              </a:rPr>
              <a:t> php:8.2-apache</a:t>
            </a:r>
          </a:p>
        </p:txBody>
      </p:sp>
      <p:pic>
        <p:nvPicPr>
          <p:cNvPr id="4" name="Picture 4" descr="TecNM | Campus Milpa Alta II">
            <a:extLst>
              <a:ext uri="{FF2B5EF4-FFF2-40B4-BE49-F238E27FC236}">
                <a16:creationId xmlns:a16="http://schemas.microsoft.com/office/drawing/2014/main" id="{FA80FB92-9C07-43F4-A33B-E3A3275146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7177137"/>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Ciclo de vida de los datos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863601"/>
            <a:ext cx="10076922" cy="3412066"/>
          </a:xfrm>
        </p:spPr>
        <p:txBody>
          <a:bodyPr>
            <a:normAutofit fontScale="92500" lnSpcReduction="10000"/>
          </a:bodyPr>
          <a:lstStyle/>
          <a:p>
            <a:pPr algn="just"/>
            <a:r>
              <a:rPr lang="es-MX" sz="3200" dirty="0">
                <a:solidFill>
                  <a:schemeClr val="tx1"/>
                </a:solidFill>
                <a:latin typeface="Google Sans"/>
              </a:rPr>
              <a:t>Datos dentro del contenedor (sin volumen): se pierden al eliminar el contenedor.</a:t>
            </a:r>
          </a:p>
          <a:p>
            <a:pPr algn="just"/>
            <a:r>
              <a:rPr lang="es-MX" sz="3200" dirty="0">
                <a:solidFill>
                  <a:schemeClr val="tx1"/>
                </a:solidFill>
                <a:latin typeface="Google Sans"/>
              </a:rPr>
              <a:t>Volumen Docker: persiste independientemente del contenedor; sobrevive incluso si se elimina el contenedor que lo usaba.</a:t>
            </a:r>
          </a:p>
          <a:p>
            <a:pPr algn="just"/>
            <a:r>
              <a:rPr lang="es-MX" sz="3200" dirty="0" err="1">
                <a:solidFill>
                  <a:schemeClr val="tx1"/>
                </a:solidFill>
                <a:latin typeface="Google Sans"/>
              </a:rPr>
              <a:t>Bind</a:t>
            </a:r>
            <a:r>
              <a:rPr lang="es-MX" sz="3200" dirty="0">
                <a:solidFill>
                  <a:schemeClr val="tx1"/>
                </a:solidFill>
                <a:latin typeface="Google Sans"/>
              </a:rPr>
              <a:t> </a:t>
            </a:r>
            <a:r>
              <a:rPr lang="es-MX" sz="3200" dirty="0" err="1">
                <a:solidFill>
                  <a:schemeClr val="tx1"/>
                </a:solidFill>
                <a:latin typeface="Google Sans"/>
              </a:rPr>
              <a:t>mount</a:t>
            </a:r>
            <a:r>
              <a:rPr lang="es-MX" sz="3200" dirty="0">
                <a:solidFill>
                  <a:schemeClr val="tx1"/>
                </a:solidFill>
                <a:latin typeface="Google Sans"/>
              </a:rPr>
              <a:t>: persiste porque los datos realmente viven en el host, no en Docker.</a:t>
            </a:r>
          </a:p>
        </p:txBody>
      </p:sp>
      <p:pic>
        <p:nvPicPr>
          <p:cNvPr id="4" name="Picture 4" descr="TecNM | Campus Milpa Alta II">
            <a:extLst>
              <a:ext uri="{FF2B5EF4-FFF2-40B4-BE49-F238E27FC236}">
                <a16:creationId xmlns:a16="http://schemas.microsoft.com/office/drawing/2014/main" id="{C5940116-DB48-4353-A7D7-15A68B0262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8040651"/>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8D60EF-0DBA-49EB-92F6-455C4FEA4CA1}"/>
              </a:ext>
            </a:extLst>
          </p:cNvPr>
          <p:cNvSpPr>
            <a:spLocks noGrp="1"/>
          </p:cNvSpPr>
          <p:nvPr>
            <p:ph type="ctrTitle"/>
          </p:nvPr>
        </p:nvSpPr>
        <p:spPr>
          <a:xfrm>
            <a:off x="1574801" y="1223682"/>
            <a:ext cx="7784352" cy="1546413"/>
          </a:xfrm>
        </p:spPr>
        <p:txBody>
          <a:bodyPr>
            <a:normAutofit/>
          </a:bodyPr>
          <a:lstStyle/>
          <a:p>
            <a:r>
              <a:rPr lang="es-MX" sz="5400" b="1" dirty="0">
                <a:solidFill>
                  <a:schemeClr val="tx2">
                    <a:lumMod val="50000"/>
                  </a:schemeClr>
                </a:solidFill>
                <a:latin typeface="Agency FB" panose="020B0503020202020204" pitchFamily="34" charset="0"/>
              </a:rPr>
              <a:t>Redes</a:t>
            </a:r>
            <a:endParaRPr lang="es-MX" sz="5400" dirty="0">
              <a:solidFill>
                <a:schemeClr val="tx2">
                  <a:lumMod val="50000"/>
                </a:schemeClr>
              </a:solidFill>
            </a:endParaRPr>
          </a:p>
        </p:txBody>
      </p:sp>
      <p:pic>
        <p:nvPicPr>
          <p:cNvPr id="4098" name="Picture 2">
            <a:extLst>
              <a:ext uri="{FF2B5EF4-FFF2-40B4-BE49-F238E27FC236}">
                <a16:creationId xmlns:a16="http://schemas.microsoft.com/office/drawing/2014/main" id="{903E5CFC-F983-432E-95B1-26009D1B0489}"/>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8000" r="92800">
                        <a14:foregroundMark x1="12800" y1="68400" x2="8000" y2="59600"/>
                        <a14:foregroundMark x1="83600" y1="34400" x2="92800" y2="37200"/>
                      </a14:backgroundRemoval>
                    </a14:imgEffect>
                  </a14:imgLayer>
                </a14:imgProps>
              </a:ext>
              <a:ext uri="{28A0092B-C50C-407E-A947-70E740481C1C}">
                <a14:useLocalDpi xmlns:a14="http://schemas.microsoft.com/office/drawing/2010/main" val="0"/>
              </a:ext>
            </a:extLst>
          </a:blip>
          <a:srcRect/>
          <a:stretch>
            <a:fillRect/>
          </a:stretch>
        </p:blipFill>
        <p:spPr bwMode="auto">
          <a:xfrm>
            <a:off x="1425575" y="2526646"/>
            <a:ext cx="3122519" cy="312251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4" name="Picture 4" descr="TecNM | Campus Milpa Alta II">
            <a:extLst>
              <a:ext uri="{FF2B5EF4-FFF2-40B4-BE49-F238E27FC236}">
                <a16:creationId xmlns:a16="http://schemas.microsoft.com/office/drawing/2014/main" id="{7ABA512C-7BE2-4EBF-AD35-AF29EE8783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949433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Bridge (puente)</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863601"/>
            <a:ext cx="10076922" cy="3412066"/>
          </a:xfrm>
        </p:spPr>
        <p:txBody>
          <a:bodyPr>
            <a:normAutofit/>
          </a:bodyPr>
          <a:lstStyle/>
          <a:p>
            <a:pPr marL="0" indent="0" algn="just">
              <a:buNone/>
            </a:pPr>
            <a:r>
              <a:rPr lang="es-MX" sz="3200" dirty="0">
                <a:solidFill>
                  <a:schemeClr val="tx1"/>
                </a:solidFill>
                <a:latin typeface="Google Sans"/>
              </a:rPr>
              <a:t>Es el driver de red por defecto: crea una red virtual interna aislada del host, a través de la cual los contenedores conectados pueden comunicarse entre sí y, mediante NAT, salir a Internet o publicar puertos hacia el host.</a:t>
            </a:r>
          </a:p>
        </p:txBody>
      </p:sp>
      <p:pic>
        <p:nvPicPr>
          <p:cNvPr id="4" name="Picture 4" descr="TecNM | Campus Milpa Alta II">
            <a:extLst>
              <a:ext uri="{FF2B5EF4-FFF2-40B4-BE49-F238E27FC236}">
                <a16:creationId xmlns:a16="http://schemas.microsoft.com/office/drawing/2014/main" id="{32060D68-1B70-44DA-9D33-6A7A6040F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0589285"/>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Redes personalizadas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1" y="1100667"/>
            <a:ext cx="10246255" cy="3175000"/>
          </a:xfrm>
        </p:spPr>
        <p:txBody>
          <a:bodyPr>
            <a:normAutofit fontScale="85000" lnSpcReduction="20000"/>
          </a:bodyPr>
          <a:lstStyle/>
          <a:p>
            <a:pPr marL="0" indent="0" algn="just">
              <a:buNone/>
            </a:pPr>
            <a:r>
              <a:rPr lang="es-MX" sz="3200" dirty="0">
                <a:solidFill>
                  <a:schemeClr val="tx1"/>
                </a:solidFill>
                <a:latin typeface="Google Sans"/>
              </a:rPr>
              <a:t>Crear una red bridge propia (en lugar de usar la red 'bridge' por defecto) habilita resolución DNS automática entre contenedores por nombre, algo que la red bridge por defecto no ofrece.</a:t>
            </a:r>
          </a:p>
          <a:p>
            <a:pPr marL="0" indent="0" algn="just">
              <a:buNone/>
            </a:pPr>
            <a:endParaRPr lang="es-MX" sz="3200" dirty="0">
              <a:solidFill>
                <a:schemeClr val="tx1"/>
              </a:solidFill>
              <a:latin typeface="Google Sans"/>
            </a:endParaRPr>
          </a:p>
          <a:p>
            <a:pPr marL="457200" lvl="1" indent="0" algn="just">
              <a:buNone/>
            </a:pPr>
            <a:r>
              <a:rPr lang="es-MX" sz="2800" b="1" dirty="0" err="1">
                <a:solidFill>
                  <a:schemeClr val="tx2">
                    <a:lumMod val="75000"/>
                  </a:schemeClr>
                </a:solidFill>
                <a:latin typeface="Google Sans"/>
              </a:rPr>
              <a:t>docker</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network</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create</a:t>
            </a:r>
            <a:r>
              <a:rPr lang="es-MX" sz="2800" b="1" dirty="0">
                <a:solidFill>
                  <a:schemeClr val="tx2">
                    <a:lumMod val="75000"/>
                  </a:schemeClr>
                </a:solidFill>
                <a:latin typeface="Google Sans"/>
              </a:rPr>
              <a:t> red-app</a:t>
            </a:r>
          </a:p>
          <a:p>
            <a:pPr marL="457200" lvl="1" indent="0" algn="just">
              <a:buNone/>
            </a:pPr>
            <a:r>
              <a:rPr lang="es-MX" sz="2800" b="1" dirty="0" err="1">
                <a:solidFill>
                  <a:schemeClr val="tx2">
                    <a:lumMod val="75000"/>
                  </a:schemeClr>
                </a:solidFill>
                <a:latin typeface="Google Sans"/>
              </a:rPr>
              <a:t>docker</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network</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ls</a:t>
            </a:r>
            <a:endParaRPr lang="es-MX" sz="2800" b="1" dirty="0">
              <a:solidFill>
                <a:schemeClr val="tx2">
                  <a:lumMod val="75000"/>
                </a:schemeClr>
              </a:solidFill>
              <a:latin typeface="Google Sans"/>
            </a:endParaRPr>
          </a:p>
          <a:p>
            <a:pPr marL="457200" lvl="1" indent="0" algn="just">
              <a:buNone/>
            </a:pPr>
            <a:r>
              <a:rPr lang="es-MX" sz="2800" b="1" dirty="0" err="1">
                <a:solidFill>
                  <a:schemeClr val="tx2">
                    <a:lumMod val="75000"/>
                  </a:schemeClr>
                </a:solidFill>
                <a:latin typeface="Google Sans"/>
              </a:rPr>
              <a:t>docker</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network</a:t>
            </a:r>
            <a:r>
              <a:rPr lang="es-MX" sz="2800" b="1" dirty="0">
                <a:solidFill>
                  <a:schemeClr val="tx2">
                    <a:lumMod val="75000"/>
                  </a:schemeClr>
                </a:solidFill>
                <a:latin typeface="Google Sans"/>
              </a:rPr>
              <a:t> </a:t>
            </a:r>
            <a:r>
              <a:rPr lang="es-MX" sz="2800" b="1" dirty="0" err="1">
                <a:solidFill>
                  <a:schemeClr val="tx2">
                    <a:lumMod val="75000"/>
                  </a:schemeClr>
                </a:solidFill>
                <a:latin typeface="Google Sans"/>
              </a:rPr>
              <a:t>inspect</a:t>
            </a:r>
            <a:r>
              <a:rPr lang="es-MX" sz="2800" b="1" dirty="0">
                <a:solidFill>
                  <a:schemeClr val="tx2">
                    <a:lumMod val="75000"/>
                  </a:schemeClr>
                </a:solidFill>
                <a:latin typeface="Google Sans"/>
              </a:rPr>
              <a:t> red-app</a:t>
            </a:r>
          </a:p>
          <a:p>
            <a:pPr marL="0" indent="0" algn="just">
              <a:buNone/>
            </a:pPr>
            <a:endParaRPr lang="es-MX" sz="3200" dirty="0">
              <a:solidFill>
                <a:schemeClr val="tx1"/>
              </a:solidFill>
              <a:latin typeface="Google Sans"/>
            </a:endParaRPr>
          </a:p>
        </p:txBody>
      </p:sp>
      <p:pic>
        <p:nvPicPr>
          <p:cNvPr id="4" name="Picture 4" descr="TecNM | Campus Milpa Alta II">
            <a:extLst>
              <a:ext uri="{FF2B5EF4-FFF2-40B4-BE49-F238E27FC236}">
                <a16:creationId xmlns:a16="http://schemas.microsoft.com/office/drawing/2014/main" id="{A65AC895-D0F5-4B3E-BD9E-8A03D2A926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456444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Comunicación entre contenedores y DNS interno</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1312333"/>
            <a:ext cx="10076922" cy="2743200"/>
          </a:xfrm>
        </p:spPr>
        <p:txBody>
          <a:bodyPr>
            <a:normAutofit/>
          </a:bodyPr>
          <a:lstStyle/>
          <a:p>
            <a:pPr marL="0" indent="0" algn="just">
              <a:buNone/>
            </a:pPr>
            <a:r>
              <a:rPr lang="es-MX" sz="3200" dirty="0">
                <a:solidFill>
                  <a:schemeClr val="tx1"/>
                </a:solidFill>
                <a:latin typeface="Google Sans"/>
              </a:rPr>
              <a:t>Cuando varios contenedores comparten una red personalizada, cada uno puede referirse a los demás por su nombre de contenedor (--</a:t>
            </a:r>
            <a:r>
              <a:rPr lang="es-MX" sz="3200" dirty="0" err="1">
                <a:solidFill>
                  <a:schemeClr val="tx1"/>
                </a:solidFill>
                <a:latin typeface="Google Sans"/>
              </a:rPr>
              <a:t>name</a:t>
            </a:r>
            <a:r>
              <a:rPr lang="es-MX" sz="3200" dirty="0">
                <a:solidFill>
                  <a:schemeClr val="tx1"/>
                </a:solidFill>
                <a:latin typeface="Google Sans"/>
              </a:rPr>
              <a:t>), y Docker resuelve automáticamente ese nombre a la IP interna correspondiente mediante su servidor DNS embebido.</a:t>
            </a:r>
          </a:p>
        </p:txBody>
      </p:sp>
      <p:pic>
        <p:nvPicPr>
          <p:cNvPr id="4" name="Picture 4" descr="TecNM | Campus Milpa Alta II">
            <a:extLst>
              <a:ext uri="{FF2B5EF4-FFF2-40B4-BE49-F238E27FC236}">
                <a16:creationId xmlns:a16="http://schemas.microsoft.com/office/drawing/2014/main" id="{05157ED9-DF9E-4D02-A5FC-DF1323797E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374136"/>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3E240-F19C-4A5F-969E-64411693E1E9}"/>
              </a:ext>
            </a:extLst>
          </p:cNvPr>
          <p:cNvSpPr>
            <a:spLocks noGrp="1"/>
          </p:cNvSpPr>
          <p:nvPr>
            <p:ph type="title"/>
          </p:nvPr>
        </p:nvSpPr>
        <p:spPr/>
        <p:txBody>
          <a:bodyPr/>
          <a:lstStyle/>
          <a:p>
            <a:r>
              <a:rPr lang="es-MX" sz="4000" b="1" dirty="0">
                <a:solidFill>
                  <a:schemeClr val="bg2">
                    <a:lumMod val="60000"/>
                    <a:lumOff val="40000"/>
                  </a:schemeClr>
                </a:solidFill>
                <a:latin typeface="Google Sans"/>
              </a:rPr>
              <a:t>Publicación de puertos</a:t>
            </a:r>
          </a:p>
        </p:txBody>
      </p:sp>
      <p:sp>
        <p:nvSpPr>
          <p:cNvPr id="3" name="Marcador de contenido 2">
            <a:extLst>
              <a:ext uri="{FF2B5EF4-FFF2-40B4-BE49-F238E27FC236}">
                <a16:creationId xmlns:a16="http://schemas.microsoft.com/office/drawing/2014/main" id="{4D103B8D-7E4E-4450-905B-D7C007245046}"/>
              </a:ext>
            </a:extLst>
          </p:cNvPr>
          <p:cNvSpPr>
            <a:spLocks noGrp="1"/>
          </p:cNvSpPr>
          <p:nvPr>
            <p:ph idx="1"/>
          </p:nvPr>
        </p:nvSpPr>
        <p:spPr>
          <a:xfrm>
            <a:off x="684212" y="863601"/>
            <a:ext cx="10076922" cy="3412066"/>
          </a:xfrm>
        </p:spPr>
        <p:txBody>
          <a:bodyPr>
            <a:normAutofit/>
          </a:bodyPr>
          <a:lstStyle/>
          <a:p>
            <a:pPr marL="0" indent="0" algn="just">
              <a:buNone/>
            </a:pPr>
            <a:r>
              <a:rPr lang="es-MX" sz="3200" dirty="0">
                <a:solidFill>
                  <a:schemeClr val="tx1"/>
                </a:solidFill>
                <a:latin typeface="Google Sans"/>
              </a:rPr>
              <a:t>El </a:t>
            </a:r>
            <a:r>
              <a:rPr lang="es-MX" sz="3200" dirty="0" err="1">
                <a:solidFill>
                  <a:schemeClr val="tx1"/>
                </a:solidFill>
                <a:latin typeface="Google Sans"/>
              </a:rPr>
              <a:t>flag</a:t>
            </a:r>
            <a:r>
              <a:rPr lang="es-MX" sz="3200" dirty="0">
                <a:solidFill>
                  <a:schemeClr val="tx1"/>
                </a:solidFill>
                <a:latin typeface="Google Sans"/>
              </a:rPr>
              <a:t> -p </a:t>
            </a:r>
            <a:r>
              <a:rPr lang="es-MX" sz="3200" dirty="0" err="1">
                <a:solidFill>
                  <a:schemeClr val="tx1"/>
                </a:solidFill>
                <a:latin typeface="Google Sans"/>
              </a:rPr>
              <a:t>host:contenedor</a:t>
            </a:r>
            <a:r>
              <a:rPr lang="es-MX" sz="3200" dirty="0">
                <a:solidFill>
                  <a:schemeClr val="tx1"/>
                </a:solidFill>
                <a:latin typeface="Google Sans"/>
              </a:rPr>
              <a:t> expone un puerto del contenedor hacia el host, permitiendo el acceso desde fuera de la red Docker (por ejemplo, desde el navegador de la máquina anfitriona).</a:t>
            </a:r>
          </a:p>
        </p:txBody>
      </p:sp>
      <p:pic>
        <p:nvPicPr>
          <p:cNvPr id="4" name="Picture 4" descr="TecNM | Campus Milpa Alta II">
            <a:extLst>
              <a:ext uri="{FF2B5EF4-FFF2-40B4-BE49-F238E27FC236}">
                <a16:creationId xmlns:a16="http://schemas.microsoft.com/office/drawing/2014/main" id="{F718EC37-5D36-4586-B161-F0096D7E16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48053" y="5808133"/>
            <a:ext cx="954517" cy="910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2949285"/>
      </p:ext>
    </p:extLst>
  </p:cSld>
  <p:clrMapOvr>
    <a:masterClrMapping/>
  </p:clrMapOvr>
  <p:transition spd="slow">
    <p:push dir="u"/>
  </p:transition>
</p:sld>
</file>

<file path=ppt/theme/theme1.xml><?xml version="1.0" encoding="utf-8"?>
<a:theme xmlns:a="http://schemas.openxmlformats.org/drawingml/2006/main" name="Sector">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377</TotalTime>
  <Words>598</Words>
  <Application>Microsoft Office PowerPoint</Application>
  <PresentationFormat>Panorámica</PresentationFormat>
  <Paragraphs>38</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Agency FB</vt:lpstr>
      <vt:lpstr>Century Gothic</vt:lpstr>
      <vt:lpstr>Google Sans</vt:lpstr>
      <vt:lpstr>Wingdings 3</vt:lpstr>
      <vt:lpstr>Sector</vt:lpstr>
      <vt:lpstr>Imágenes, Volúmenes y Redes</vt:lpstr>
      <vt:lpstr>Imágenes</vt:lpstr>
      <vt:lpstr>Capas (layers)</vt:lpstr>
      <vt:lpstr>Tags y versiones </vt:lpstr>
      <vt:lpstr>Comandos de gestión de imágenes</vt:lpstr>
      <vt:lpstr>Volúmenes</vt:lpstr>
      <vt:lpstr>Persistencia de datos</vt:lpstr>
      <vt:lpstr>Volúmenes Docker</vt:lpstr>
      <vt:lpstr>Volúmenes Docker</vt:lpstr>
      <vt:lpstr>Bind mounts</vt:lpstr>
      <vt:lpstr>Ciclo de vida de los datos</vt:lpstr>
      <vt:lpstr>Redes</vt:lpstr>
      <vt:lpstr>Bridge (puente)</vt:lpstr>
      <vt:lpstr>Redes personalizadas</vt:lpstr>
      <vt:lpstr>Comunicación entre contenedores y DNS interno</vt:lpstr>
      <vt:lpstr>Publicación de puertos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Características de Base de Datos NoSQL</dc:title>
  <dc:creator>Diego Sahashi</dc:creator>
  <cp:lastModifiedBy>Diego Sahashi</cp:lastModifiedBy>
  <cp:revision>54</cp:revision>
  <dcterms:created xsi:type="dcterms:W3CDTF">2025-01-29T05:05:03Z</dcterms:created>
  <dcterms:modified xsi:type="dcterms:W3CDTF">2026-08-18T08:34:51Z</dcterms:modified>
</cp:coreProperties>
</file>