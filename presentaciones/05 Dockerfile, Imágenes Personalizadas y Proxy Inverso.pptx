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9" r:id="rId2"/>
    <p:sldId id="259" r:id="rId3"/>
    <p:sldId id="261" r:id="rId4"/>
    <p:sldId id="299" r:id="rId5"/>
    <p:sldId id="263" r:id="rId6"/>
    <p:sldId id="290" r:id="rId7"/>
    <p:sldId id="291" r:id="rId8"/>
    <p:sldId id="292" r:id="rId9"/>
    <p:sldId id="296" r:id="rId10"/>
    <p:sldId id="297" r:id="rId11"/>
    <p:sldId id="298" r:id="rId12"/>
    <p:sldId id="300" r:id="rId13"/>
    <p:sldId id="301" r:id="rId14"/>
    <p:sldId id="30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Document.docx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Document1.docx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Document2.docx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Document3.docx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D60EF-0DBA-49EB-92F6-455C4FEA4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964" y="1346200"/>
            <a:ext cx="8485095" cy="1855695"/>
          </a:xfrm>
        </p:spPr>
        <p:txBody>
          <a:bodyPr>
            <a:normAutofit fontScale="90000"/>
          </a:bodyPr>
          <a:lstStyle/>
          <a:p>
            <a:r>
              <a:rPr lang="es-ES" sz="5400" b="1" dirty="0" err="1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Dockerfile</a:t>
            </a:r>
            <a:r>
              <a:rPr lang="es-ES" sz="5400" b="1"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, Imágenes Personalizadas y Proxy Inverso</a:t>
            </a:r>
            <a:endParaRPr lang="es-MX" sz="5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90C03921-FD41-47D7-9FA7-5B7E28C07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cono Carpeta tipo ventana acoplable">
            <a:extLst>
              <a:ext uri="{FF2B5EF4-FFF2-40B4-BE49-F238E27FC236}">
                <a16:creationId xmlns:a16="http://schemas.microsoft.com/office/drawing/2014/main" id="{0D308A7A-2DCD-4A60-92FD-15D594389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874433"/>
            <a:ext cx="3009900" cy="3009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66972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¿Qué es un </a:t>
            </a:r>
            <a:r>
              <a:rPr lang="es-MX" sz="40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Dockerfile</a:t>
            </a:r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0" y="977030"/>
            <a:ext cx="10490295" cy="319155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Un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Dockerfile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es un archivo de texto plano que contiene una secuencia ordenada de instrucciones para construir una imagen Docker de forma automatizada y reproducible. Cada instrucción genera, en general, una nueva capa sobre la imagen resultante.</a:t>
            </a:r>
          </a:p>
        </p:txBody>
      </p:sp>
      <p:pic>
        <p:nvPicPr>
          <p:cNvPr id="5" name="Picture 4" descr="TecNM | Campus Milpa Alta II">
            <a:extLst>
              <a:ext uri="{FF2B5EF4-FFF2-40B4-BE49-F238E27FC236}">
                <a16:creationId xmlns:a16="http://schemas.microsoft.com/office/drawing/2014/main" id="{9FD0A4B0-4DCD-4EA1-BE98-726103FE0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08306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Relación </a:t>
            </a:r>
            <a:r>
              <a:rPr lang="es-MX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Dockerfile</a:t>
            </a:r>
            <a:r>
              <a:rPr lang="es-MX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 / imagen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027134"/>
            <a:ext cx="10315482" cy="32739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El comando </a:t>
            </a:r>
            <a:r>
              <a:rPr lang="es-ES" sz="3200" i="1" dirty="0" err="1">
                <a:solidFill>
                  <a:schemeClr val="tx1"/>
                </a:solidFill>
                <a:latin typeface="Google Sans"/>
              </a:rPr>
              <a:t>docker</a:t>
            </a:r>
            <a:r>
              <a:rPr lang="es-ES" sz="3200" i="1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i="1" dirty="0" err="1">
                <a:solidFill>
                  <a:schemeClr val="tx1"/>
                </a:solidFill>
                <a:latin typeface="Google Sans"/>
              </a:rPr>
              <a:t>build</a:t>
            </a:r>
            <a:r>
              <a:rPr lang="es-ES" sz="3200" i="1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lee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Dockerfile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y ejecuta cada instrucción en orden, produciendo como resultado final una imagen. Esa imagen puede después etiquetarse (tag), distribuirse y usarse para crear contenedores, igual que cualquier imagen descargada de un registro.</a:t>
            </a:r>
            <a:endParaRPr lang="es-ES" sz="3200" b="1" dirty="0">
              <a:solidFill>
                <a:schemeClr val="tx2">
                  <a:lumMod val="75000"/>
                </a:schemeClr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B34B1328-76BB-4C73-ACFC-EB524D638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1046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Tags y versionado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027134"/>
            <a:ext cx="10315482" cy="32739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Se recomienda evitar depender únicamente de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latest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en imágenes propias; usar versionado semántico (mi-app:1.0.0, mi-app:1.1.0) facilita rastrear qué versión del código corresponde a cada imagen y permite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rollbacks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controlados.</a:t>
            </a:r>
            <a:endParaRPr lang="es-ES" sz="3200" b="1" dirty="0">
              <a:solidFill>
                <a:schemeClr val="tx2">
                  <a:lumMod val="75000"/>
                </a:schemeClr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B34B1328-76BB-4C73-ACFC-EB524D638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74621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Capas y caché de </a:t>
            </a:r>
            <a:r>
              <a:rPr lang="es-MX" sz="40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build</a:t>
            </a:r>
            <a:endParaRPr lang="es-MX" sz="4000" b="1" dirty="0">
              <a:solidFill>
                <a:schemeClr val="bg2">
                  <a:lumMod val="60000"/>
                  <a:lumOff val="40000"/>
                </a:schemeClr>
              </a:solidFill>
              <a:latin typeface="Google San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863601"/>
            <a:ext cx="10194459" cy="395044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Docker cachea cada capa de la construcción. Si una instrucción y su contexto no cambian respecto a un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build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anterior, Docker reutiliza la capa cacheada en lugar de volver a ejecutarla, acelerando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builds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sucesivos. Por ello, es una buena práctica ordenar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Dockerfile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de lo que cambia menos frecuentemente (por ejemplo, instalación de dependencias del sistema) a lo que cambia más frecuentemente (el código fuente de la aplicación).</a:t>
            </a: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5E92CF3D-A75E-4923-B56D-B4B47DDFF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40586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Ejemplo </a:t>
            </a:r>
            <a:r>
              <a:rPr lang="es-ES" sz="40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Dockerfile</a:t>
            </a:r>
            <a:endParaRPr lang="es-MX" sz="4000" b="1" dirty="0">
              <a:solidFill>
                <a:schemeClr val="bg2">
                  <a:lumMod val="60000"/>
                  <a:lumOff val="40000"/>
                </a:schemeClr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22E2F291-858A-4036-8D6E-FD1DEE6F8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17CB57D9-583D-4426-92E3-747710A159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816794"/>
              </p:ext>
            </p:extLst>
          </p:nvPr>
        </p:nvGraphicFramePr>
        <p:xfrm>
          <a:off x="684212" y="863601"/>
          <a:ext cx="9539287" cy="4057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Document" r:id="rId4" imgW="5731988" imgH="2438728" progId="Word.Document.12">
                  <p:embed/>
                </p:oleObj>
              </mc:Choice>
              <mc:Fallback>
                <p:oleObj name="Document" r:id="rId4" imgW="5731988" imgH="24387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4212" y="863601"/>
                        <a:ext cx="9539287" cy="4057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612460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.</a:t>
            </a:r>
            <a:r>
              <a:rPr lang="es-ES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dockerignore</a:t>
            </a:r>
            <a:endParaRPr lang="es-MX" b="1" dirty="0">
              <a:solidFill>
                <a:schemeClr val="bg2">
                  <a:lumMod val="60000"/>
                  <a:lumOff val="40000"/>
                </a:schemeClr>
              </a:solidFill>
              <a:latin typeface="Google San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863601"/>
            <a:ext cx="10194459" cy="39504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Análogo a .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gitignore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evita que archivos innecesarios (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node_modules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.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git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archivos temporales, credenciales locales) se incluyan en el contexto de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build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reduciendo el tamaño enviado al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daemon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y evitando invalidar la caché innecesariamente.</a:t>
            </a:r>
            <a:endParaRPr lang="es-MX" sz="3200" dirty="0">
              <a:solidFill>
                <a:schemeClr val="tx1"/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FA80FB92-9C07-43F4-A33B-E3A327514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17713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Ejemplo .</a:t>
            </a:r>
            <a:r>
              <a:rPr lang="es-ES" sz="40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dockerignore</a:t>
            </a:r>
            <a:endParaRPr lang="es-MX" sz="4000" b="1" dirty="0">
              <a:solidFill>
                <a:schemeClr val="bg2">
                  <a:lumMod val="60000"/>
                  <a:lumOff val="40000"/>
                </a:schemeClr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C5940116-DB48-4353-A7D7-15A68B026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FC861707-3A92-4600-B497-FB2F191187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036156"/>
              </p:ext>
            </p:extLst>
          </p:nvPr>
        </p:nvGraphicFramePr>
        <p:xfrm>
          <a:off x="684212" y="1892300"/>
          <a:ext cx="10310474" cy="205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Document" r:id="rId4" imgW="5731988" imgH="1142321" progId="Word.Document.12">
                  <p:embed/>
                </p:oleObj>
              </mc:Choice>
              <mc:Fallback>
                <p:oleObj name="Document" r:id="rId4" imgW="5731988" imgH="11423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4212" y="1892300"/>
                        <a:ext cx="10310474" cy="2055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804065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Optimización de imágenes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1100667"/>
            <a:ext cx="10246255" cy="31750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Usar imágenes base ligeras (variantes -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slim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o -alpine) cuando sea posible.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Combinar instrucciones RUN relacionadas en una sola línea para reducir el número de capas.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Limpiar cachés de gestores de paquetes en la misma instrucción RUN que instala (por ejemplo, </a:t>
            </a:r>
            <a:r>
              <a:rPr lang="es-ES" sz="3200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rm</a:t>
            </a:r>
            <a:r>
              <a:rPr lang="es-ES" sz="3200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-</a:t>
            </a:r>
            <a:r>
              <a:rPr lang="es-ES" sz="3200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rf</a:t>
            </a:r>
            <a:r>
              <a:rPr lang="es-ES" sz="3200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 /</a:t>
            </a:r>
            <a:r>
              <a:rPr lang="es-ES" sz="3200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var</a:t>
            </a:r>
            <a:r>
              <a:rPr lang="es-ES" sz="3200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/</a:t>
            </a:r>
            <a:r>
              <a:rPr lang="es-ES" sz="3200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lib</a:t>
            </a:r>
            <a:r>
              <a:rPr lang="es-ES" sz="3200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/</a:t>
            </a:r>
            <a:r>
              <a:rPr lang="es-ES" sz="3200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apt</a:t>
            </a:r>
            <a:r>
              <a:rPr lang="es-ES" sz="3200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/</a:t>
            </a:r>
            <a:r>
              <a:rPr lang="es-ES" sz="3200" dirty="0" err="1">
                <a:solidFill>
                  <a:schemeClr val="tx2">
                    <a:lumMod val="75000"/>
                  </a:schemeClr>
                </a:solidFill>
                <a:latin typeface="Google Sans"/>
              </a:rPr>
              <a:t>lists</a:t>
            </a:r>
            <a:r>
              <a:rPr lang="es-ES" sz="3200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/*).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No copiar archivos innecesarios al contexto de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build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(.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dockerignore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).</a:t>
            </a:r>
          </a:p>
          <a:p>
            <a:pPr marL="0" indent="0" algn="just">
              <a:buNone/>
            </a:pPr>
            <a:endParaRPr lang="es-MX" sz="3200" dirty="0">
              <a:solidFill>
                <a:schemeClr val="tx1"/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A65AC895-D0F5-4B3E-BD9E-8A03D2A92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56444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Multi-stage</a:t>
            </a:r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 </a:t>
            </a:r>
            <a:r>
              <a:rPr lang="es-MX" sz="40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builds</a:t>
            </a:r>
            <a:endParaRPr lang="es-MX" sz="4000" b="1" dirty="0">
              <a:solidFill>
                <a:schemeClr val="bg2">
                  <a:lumMod val="60000"/>
                  <a:lumOff val="40000"/>
                </a:schemeClr>
              </a:solidFill>
              <a:latin typeface="Google San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312333"/>
            <a:ext cx="10076922" cy="2743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Permiten usar varias etapas FROM dentro de un mismo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Dockerfile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una etapa '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builder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' con todas las herramientas de compilación, y una etapa final ligera que solo copia los artefactos ya compilados, descartando el resto. Esto reduce drásticamente el tamaño de la imagen final.</a:t>
            </a:r>
            <a:endParaRPr lang="es-MX" sz="3200" dirty="0">
              <a:solidFill>
                <a:schemeClr val="tx1"/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05157ED9-DF9E-4D02-A5FC-DF1323797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7413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E</a:t>
            </a:r>
            <a:r>
              <a:rPr lang="es-MX" sz="40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jemplo</a:t>
            </a:r>
            <a:endParaRPr lang="es-MX" sz="4000" b="1" dirty="0">
              <a:solidFill>
                <a:schemeClr val="bg2">
                  <a:lumMod val="60000"/>
                  <a:lumOff val="40000"/>
                </a:schemeClr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F718EC37-5D36-4586-B161-F0096D7E1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CBC5D980-56A7-4431-967C-AAD2AEDE64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667752"/>
              </p:ext>
            </p:extLst>
          </p:nvPr>
        </p:nvGraphicFramePr>
        <p:xfrm>
          <a:off x="684212" y="1185601"/>
          <a:ext cx="10147681" cy="3695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Document" r:id="rId4" imgW="5731988" imgH="2087715" progId="Word.Document.12">
                  <p:embed/>
                </p:oleObj>
              </mc:Choice>
              <mc:Fallback>
                <p:oleObj name="Document" r:id="rId4" imgW="5731988" imgH="20877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4212" y="1185601"/>
                        <a:ext cx="10147681" cy="36954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294928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Nginx</a:t>
            </a:r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 como proxy inverso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863601"/>
            <a:ext cx="10076922" cy="3412066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Además de servir como servidor web de archivos estáticos,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Nginx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puede funcionar como proxy inverso: recibir las peticiones del cliente y reenviarlas hacia otro servicio interno (por ejemplo, un contenedor PHP-FPM o una API), devolviendo la respuesta al cliente como si el propio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Nginx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la hubiera generado.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Servidor web / servidor de archivos: sirve contenido estático directamente.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Reverse proxy: reenvía peticiones a un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backend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ocultando su topología interna.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Balanceo básico: puede repartir peticiones entre varias instancias de un mismo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backend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(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upstream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).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Enrutamiento por dominio o por ruta: distintos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server_name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location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pueden dirigir tráfico a distintos servicios.</a:t>
            </a: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F718EC37-5D36-4586-B161-F0096D7E1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15289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Configuración de </a:t>
            </a:r>
            <a:r>
              <a:rPr lang="es-ES" sz="4000" b="1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Nginx</a:t>
            </a:r>
            <a:r>
              <a:rPr lang="es-ES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 dentro de un contenedor</a:t>
            </a:r>
            <a:endParaRPr lang="es-MX" sz="4000" b="1" dirty="0">
              <a:solidFill>
                <a:schemeClr val="bg2">
                  <a:lumMod val="60000"/>
                  <a:lumOff val="40000"/>
                </a:schemeClr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F718EC37-5D36-4586-B161-F0096D7E1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9165FE13-7401-4105-AAA4-39883F729B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511951"/>
              </p:ext>
            </p:extLst>
          </p:nvPr>
        </p:nvGraphicFramePr>
        <p:xfrm>
          <a:off x="775120" y="660803"/>
          <a:ext cx="9981779" cy="3881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Document" r:id="rId4" imgW="5731988" imgH="2228840" progId="Word.Document.12">
                  <p:embed/>
                </p:oleObj>
              </mc:Choice>
              <mc:Fallback>
                <p:oleObj name="Document" r:id="rId4" imgW="5731988" imgH="22288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5120" y="660803"/>
                        <a:ext cx="9981779" cy="3881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188194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Descripción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863601"/>
            <a:ext cx="10076922" cy="341206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Ese archivo de configuración se monta en el contenedor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Nginx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(vía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bind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mount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o COPY en un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Dockerfile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propio), reemplazando la configuración por defecto, y usa el nombre del servicio 'app' definido en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Compose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para localizar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backend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PHP-FPM en el puerto 9000.</a:t>
            </a:r>
            <a:endParaRPr lang="es-MX" sz="3200" dirty="0">
              <a:solidFill>
                <a:schemeClr val="tx1"/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F718EC37-5D36-4586-B161-F0096D7E1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56048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ecto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488</TotalTime>
  <Words>580</Words>
  <Application>Microsoft Office PowerPoint</Application>
  <PresentationFormat>Panorámica</PresentationFormat>
  <Paragraphs>30</Paragraphs>
  <Slides>14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Agency FB</vt:lpstr>
      <vt:lpstr>Century Gothic</vt:lpstr>
      <vt:lpstr>Google Sans</vt:lpstr>
      <vt:lpstr>Wingdings 3</vt:lpstr>
      <vt:lpstr>Sector</vt:lpstr>
      <vt:lpstr>Document</vt:lpstr>
      <vt:lpstr>Dockerfile, Imágenes Personalizadas y Proxy Inverso</vt:lpstr>
      <vt:lpstr>¿Qué es un Dockerfile?</vt:lpstr>
      <vt:lpstr>Relación Dockerfile / imagen</vt:lpstr>
      <vt:lpstr>Tags y versionado</vt:lpstr>
      <vt:lpstr>Capas y caché de build</vt:lpstr>
      <vt:lpstr>Ejemplo Dockerfile</vt:lpstr>
      <vt:lpstr>.dockerignore</vt:lpstr>
      <vt:lpstr>Ejemplo .dockerignore</vt:lpstr>
      <vt:lpstr>Optimización de imágenes</vt:lpstr>
      <vt:lpstr>Multi-stage builds</vt:lpstr>
      <vt:lpstr>Ejemplo</vt:lpstr>
      <vt:lpstr>Nginx como proxy inverso</vt:lpstr>
      <vt:lpstr>Configuración de Nginx dentro de un contenedor</vt:lpstr>
      <vt:lpstr>Descripción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Características de Base de Datos NoSQL</dc:title>
  <dc:creator>Diego Sahashi</dc:creator>
  <cp:lastModifiedBy>Diego Sahashi</cp:lastModifiedBy>
  <cp:revision>67</cp:revision>
  <dcterms:created xsi:type="dcterms:W3CDTF">2025-01-29T05:05:03Z</dcterms:created>
  <dcterms:modified xsi:type="dcterms:W3CDTF">2026-08-24T05:25:16Z</dcterms:modified>
</cp:coreProperties>
</file>